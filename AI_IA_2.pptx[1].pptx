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60" r:id="rId5"/>
    <p:sldId id="261" r:id="rId6"/>
    <p:sldId id="264" r:id="rId7"/>
    <p:sldId id="265" r:id="rId8"/>
    <p:sldId id="266" r:id="rId9"/>
    <p:sldId id="267" r:id="rId10"/>
    <p:sldId id="268" r:id="rId11"/>
    <p:sldId id="269" r:id="rId12"/>
    <p:sldId id="270" r:id="rId13"/>
    <p:sldId id="271" r:id="rId14"/>
  </p:sldIdLst>
  <p:sldSz cx="18288000" cy="10287000"/>
  <p:notesSz cx="6858000" cy="9144000"/>
  <p:embeddedFontLst>
    <p:embeddedFont>
      <p:font typeface="Canva Sans" panose="020B0604020202020204" charset="0"/>
      <p:regular r:id="rId15"/>
    </p:embeddedFont>
    <p:embeddedFont>
      <p:font typeface="Canva Sans Bold" panose="020B0604020202020204" charset="0"/>
      <p:regular r:id="rId16"/>
    </p:embeddedFont>
    <p:embeddedFont>
      <p:font typeface="Canva Sans Bold Italics" panose="020B0604020202020204" charset="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2" autoAdjust="0"/>
    <p:restoredTop sz="95196" autoAdjust="0"/>
  </p:normalViewPr>
  <p:slideViewPr>
    <p:cSldViewPr>
      <p:cViewPr varScale="1">
        <p:scale>
          <a:sx n="55" d="100"/>
          <a:sy n="55" d="100"/>
        </p:scale>
        <p:origin x="658" y="5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jpe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jpe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4.jpe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jpe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jpe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jpe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4.jpe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4.jpe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4.jpe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4.jpe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jpe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jpe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jpe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08" y="3328"/>
            <a:ext cx="850437" cy="10283672"/>
          </a:xfrm>
          <a:custGeom>
            <a:avLst/>
            <a:gdLst/>
            <a:ahLst/>
            <a:cxnLst/>
            <a:rect l="l" t="t" r="r" b="b"/>
            <a:pathLst>
              <a:path w="850437" h="10283672">
                <a:moveTo>
                  <a:pt x="0" y="0"/>
                </a:moveTo>
                <a:lnTo>
                  <a:pt x="850436" y="0"/>
                </a:lnTo>
                <a:lnTo>
                  <a:pt x="850436" y="10283672"/>
                </a:lnTo>
                <a:lnTo>
                  <a:pt x="0" y="10283672"/>
                </a:lnTo>
                <a:lnTo>
                  <a:pt x="0" y="0"/>
                </a:lnTo>
                <a:close/>
              </a:path>
            </a:pathLst>
          </a:custGeom>
          <a:blipFill>
            <a:blip r:embed="rId2"/>
            <a:stretch>
              <a:fillRect l="-63364" r="-63364"/>
            </a:stretch>
          </a:blipFill>
        </p:spPr>
      </p:sp>
      <p:sp>
        <p:nvSpPr>
          <p:cNvPr id="3" name="Freeform 3"/>
          <p:cNvSpPr/>
          <p:nvPr/>
        </p:nvSpPr>
        <p:spPr>
          <a:xfrm>
            <a:off x="851344" y="0"/>
            <a:ext cx="314516" cy="8161020"/>
          </a:xfrm>
          <a:custGeom>
            <a:avLst/>
            <a:gdLst/>
            <a:ahLst/>
            <a:cxnLst/>
            <a:rect l="l" t="t" r="r" b="b"/>
            <a:pathLst>
              <a:path w="314516" h="8161020">
                <a:moveTo>
                  <a:pt x="0" y="0"/>
                </a:moveTo>
                <a:lnTo>
                  <a:pt x="314516" y="0"/>
                </a:lnTo>
                <a:lnTo>
                  <a:pt x="314516" y="8161020"/>
                </a:lnTo>
                <a:lnTo>
                  <a:pt x="0" y="8161020"/>
                </a:lnTo>
                <a:lnTo>
                  <a:pt x="0" y="0"/>
                </a:lnTo>
                <a:close/>
              </a:path>
            </a:pathLst>
          </a:custGeom>
          <a:blipFill>
            <a:blip r:embed="rId3"/>
            <a:stretch>
              <a:fillRect l="-57941" r="-57941"/>
            </a:stretch>
          </a:blipFill>
        </p:spPr>
      </p:sp>
      <p:sp>
        <p:nvSpPr>
          <p:cNvPr id="4" name="Freeform 4" descr="A close up of a sign  Description automatically generated"/>
          <p:cNvSpPr/>
          <p:nvPr/>
        </p:nvSpPr>
        <p:spPr>
          <a:xfrm>
            <a:off x="16472728" y="9176862"/>
            <a:ext cx="1303024" cy="971230"/>
          </a:xfrm>
          <a:custGeom>
            <a:avLst/>
            <a:gdLst/>
            <a:ahLst/>
            <a:cxnLst/>
            <a:rect l="l" t="t" r="r" b="b"/>
            <a:pathLst>
              <a:path w="1303024" h="971230">
                <a:moveTo>
                  <a:pt x="0" y="0"/>
                </a:moveTo>
                <a:lnTo>
                  <a:pt x="1303024" y="0"/>
                </a:lnTo>
                <a:lnTo>
                  <a:pt x="1303024" y="971230"/>
                </a:lnTo>
                <a:lnTo>
                  <a:pt x="0" y="971230"/>
                </a:lnTo>
                <a:lnTo>
                  <a:pt x="0" y="0"/>
                </a:lnTo>
                <a:close/>
              </a:path>
            </a:pathLst>
          </a:custGeom>
          <a:blipFill>
            <a:blip r:embed="rId4"/>
            <a:stretch>
              <a:fillRect t="-70" b="-70"/>
            </a:stretch>
          </a:blipFill>
        </p:spPr>
      </p:sp>
      <p:sp>
        <p:nvSpPr>
          <p:cNvPr id="5" name="Freeform 5" descr="A picture containing drawing  Description automatically generated"/>
          <p:cNvSpPr/>
          <p:nvPr/>
        </p:nvSpPr>
        <p:spPr>
          <a:xfrm>
            <a:off x="851535" y="9176862"/>
            <a:ext cx="3983352" cy="995838"/>
          </a:xfrm>
          <a:custGeom>
            <a:avLst/>
            <a:gdLst/>
            <a:ahLst/>
            <a:cxnLst/>
            <a:rect l="l" t="t" r="r" b="b"/>
            <a:pathLst>
              <a:path w="3983352" h="995838">
                <a:moveTo>
                  <a:pt x="0" y="0"/>
                </a:moveTo>
                <a:lnTo>
                  <a:pt x="3983352" y="0"/>
                </a:lnTo>
                <a:lnTo>
                  <a:pt x="3983352" y="995838"/>
                </a:lnTo>
                <a:lnTo>
                  <a:pt x="0" y="995838"/>
                </a:lnTo>
                <a:lnTo>
                  <a:pt x="0" y="0"/>
                </a:lnTo>
                <a:close/>
              </a:path>
            </a:pathLst>
          </a:custGeom>
          <a:blipFill>
            <a:blip r:embed="rId5"/>
            <a:stretch>
              <a:fillRect/>
            </a:stretch>
          </a:blipFill>
        </p:spPr>
      </p:sp>
      <p:sp>
        <p:nvSpPr>
          <p:cNvPr id="8" name="TextBox 8"/>
          <p:cNvSpPr txBox="1"/>
          <p:nvPr/>
        </p:nvSpPr>
        <p:spPr>
          <a:xfrm>
            <a:off x="4268837" y="67937"/>
            <a:ext cx="10492872" cy="778511"/>
          </a:xfrm>
          <a:prstGeom prst="rect">
            <a:avLst/>
          </a:prstGeom>
        </p:spPr>
        <p:txBody>
          <a:bodyPr lIns="0" tIns="0" rIns="0" bIns="0" rtlCol="0" anchor="t">
            <a:spAutoFit/>
          </a:bodyPr>
          <a:lstStyle/>
          <a:p>
            <a:pPr algn="ctr">
              <a:lnSpc>
                <a:spcPts val="6439"/>
              </a:lnSpc>
              <a:spcBef>
                <a:spcPct val="0"/>
              </a:spcBef>
            </a:pPr>
            <a:r>
              <a:rPr lang="en-US" sz="4599" b="1" i="1" u="sng">
                <a:solidFill>
                  <a:srgbClr val="000000"/>
                </a:solidFill>
                <a:latin typeface="Canva Sans Bold Italics"/>
                <a:ea typeface="Canva Sans Bold Italics"/>
                <a:cs typeface="Canva Sans Bold Italics"/>
                <a:sym typeface="Canva Sans Bold Italics"/>
              </a:rPr>
              <a:t>Artificial Intelligence IA2</a:t>
            </a:r>
          </a:p>
        </p:txBody>
      </p:sp>
      <p:sp>
        <p:nvSpPr>
          <p:cNvPr id="9" name="TextBox 9"/>
          <p:cNvSpPr txBox="1"/>
          <p:nvPr/>
        </p:nvSpPr>
        <p:spPr>
          <a:xfrm>
            <a:off x="9345397" y="8162385"/>
            <a:ext cx="7939395" cy="2371483"/>
          </a:xfrm>
          <a:prstGeom prst="rect">
            <a:avLst/>
          </a:prstGeom>
        </p:spPr>
        <p:txBody>
          <a:bodyPr wrap="square" lIns="0" tIns="0" rIns="0" bIns="0" rtlCol="0" anchor="t">
            <a:spAutoFit/>
          </a:bodyPr>
          <a:lstStyle/>
          <a:p>
            <a:pPr>
              <a:lnSpc>
                <a:spcPts val="4705"/>
              </a:lnSpc>
            </a:pPr>
            <a:r>
              <a:rPr lang="en-US" sz="3360" dirty="0">
                <a:solidFill>
                  <a:srgbClr val="000000"/>
                </a:solidFill>
                <a:latin typeface="Canva Sans"/>
                <a:ea typeface="Canva Sans"/>
                <a:cs typeface="Canva Sans"/>
                <a:sym typeface="Canva Sans"/>
              </a:rPr>
              <a:t>16010122331 – Shubham Malgaonkar</a:t>
            </a:r>
          </a:p>
          <a:p>
            <a:pPr>
              <a:lnSpc>
                <a:spcPts val="4705"/>
              </a:lnSpc>
            </a:pPr>
            <a:r>
              <a:rPr lang="en-US" sz="3360" dirty="0">
                <a:solidFill>
                  <a:srgbClr val="000000"/>
                </a:solidFill>
                <a:latin typeface="Canva Sans"/>
                <a:ea typeface="Canva Sans"/>
                <a:cs typeface="Canva Sans"/>
                <a:sym typeface="Canva Sans"/>
              </a:rPr>
              <a:t>16010122324 – Parth Sharma</a:t>
            </a:r>
          </a:p>
          <a:p>
            <a:pPr algn="ctr">
              <a:lnSpc>
                <a:spcPts val="4705"/>
              </a:lnSpc>
            </a:pPr>
            <a:endParaRPr lang="en-US" sz="3360" dirty="0">
              <a:solidFill>
                <a:srgbClr val="000000"/>
              </a:solidFill>
              <a:latin typeface="Canva Sans"/>
              <a:ea typeface="Canva Sans"/>
              <a:cs typeface="Canva Sans"/>
              <a:sym typeface="Canva Sans"/>
            </a:endParaRPr>
          </a:p>
          <a:p>
            <a:pPr algn="ctr">
              <a:lnSpc>
                <a:spcPts val="4705"/>
              </a:lnSpc>
              <a:spcBef>
                <a:spcPct val="0"/>
              </a:spcBef>
            </a:pPr>
            <a:endParaRPr lang="en-US" sz="3360" dirty="0">
              <a:solidFill>
                <a:srgbClr val="000000"/>
              </a:solidFill>
              <a:latin typeface="Canva Sans"/>
              <a:ea typeface="Canva Sans"/>
              <a:cs typeface="Canva Sans"/>
              <a:sym typeface="Canva Sans"/>
            </a:endParaRPr>
          </a:p>
        </p:txBody>
      </p:sp>
      <p:sp>
        <p:nvSpPr>
          <p:cNvPr id="10" name="TextBox 10"/>
          <p:cNvSpPr txBox="1"/>
          <p:nvPr/>
        </p:nvSpPr>
        <p:spPr>
          <a:xfrm>
            <a:off x="3396816" y="1330344"/>
            <a:ext cx="12236914" cy="755016"/>
          </a:xfrm>
          <a:prstGeom prst="rect">
            <a:avLst/>
          </a:prstGeom>
        </p:spPr>
        <p:txBody>
          <a:bodyPr lIns="0" tIns="0" rIns="0" bIns="0" rtlCol="0" anchor="t">
            <a:spAutoFit/>
          </a:bodyPr>
          <a:lstStyle/>
          <a:p>
            <a:pPr algn="ctr">
              <a:lnSpc>
                <a:spcPts val="6159"/>
              </a:lnSpc>
              <a:spcBef>
                <a:spcPct val="0"/>
              </a:spcBef>
            </a:pPr>
            <a:r>
              <a:rPr lang="en-US" sz="4399" b="1" u="sng" dirty="0">
                <a:solidFill>
                  <a:srgbClr val="000000"/>
                </a:solidFill>
                <a:latin typeface="Canva Sans Bold"/>
                <a:ea typeface="Canva Sans Bold"/>
                <a:cs typeface="Canva Sans Bold"/>
                <a:sym typeface="Canva Sans Bold"/>
              </a:rPr>
              <a:t>Title: Stock prediction</a:t>
            </a:r>
          </a:p>
        </p:txBody>
      </p:sp>
      <p:pic>
        <p:nvPicPr>
          <p:cNvPr id="2050" name="Picture 2" descr="6 Tips to Help You Understand the Stock Market | Walden University">
            <a:extLst>
              <a:ext uri="{FF2B5EF4-FFF2-40B4-BE49-F238E27FC236}">
                <a16:creationId xmlns:a16="http://schemas.microsoft.com/office/drawing/2014/main" id="{06D57314-11AB-C8C7-09EA-C1EB885BBD4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06817" y="2406500"/>
            <a:ext cx="8168658" cy="459487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Stock trading guide for today: How to approach pharma, FMCG counters? |  News on Markets - Business Standard">
            <a:extLst>
              <a:ext uri="{FF2B5EF4-FFF2-40B4-BE49-F238E27FC236}">
                <a16:creationId xmlns:a16="http://schemas.microsoft.com/office/drawing/2014/main" id="{B461C8DB-A8BD-AFA1-0DD4-BB468639647C}"/>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9789990" y="2301230"/>
            <a:ext cx="7050210" cy="470014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08" y="3328"/>
            <a:ext cx="850437" cy="10283672"/>
          </a:xfrm>
          <a:custGeom>
            <a:avLst/>
            <a:gdLst/>
            <a:ahLst/>
            <a:cxnLst/>
            <a:rect l="l" t="t" r="r" b="b"/>
            <a:pathLst>
              <a:path w="850437" h="10283672">
                <a:moveTo>
                  <a:pt x="0" y="0"/>
                </a:moveTo>
                <a:lnTo>
                  <a:pt x="850436" y="0"/>
                </a:lnTo>
                <a:lnTo>
                  <a:pt x="850436" y="10283672"/>
                </a:lnTo>
                <a:lnTo>
                  <a:pt x="0" y="10283672"/>
                </a:lnTo>
                <a:lnTo>
                  <a:pt x="0" y="0"/>
                </a:lnTo>
                <a:close/>
              </a:path>
            </a:pathLst>
          </a:custGeom>
          <a:blipFill>
            <a:blip r:embed="rId2"/>
            <a:stretch>
              <a:fillRect l="-63364" r="-63364"/>
            </a:stretch>
          </a:blipFill>
        </p:spPr>
      </p:sp>
      <p:sp>
        <p:nvSpPr>
          <p:cNvPr id="3" name="Freeform 3"/>
          <p:cNvSpPr/>
          <p:nvPr/>
        </p:nvSpPr>
        <p:spPr>
          <a:xfrm>
            <a:off x="851344" y="0"/>
            <a:ext cx="314516" cy="8161020"/>
          </a:xfrm>
          <a:custGeom>
            <a:avLst/>
            <a:gdLst/>
            <a:ahLst/>
            <a:cxnLst/>
            <a:rect l="l" t="t" r="r" b="b"/>
            <a:pathLst>
              <a:path w="314516" h="8161020">
                <a:moveTo>
                  <a:pt x="0" y="0"/>
                </a:moveTo>
                <a:lnTo>
                  <a:pt x="314516" y="0"/>
                </a:lnTo>
                <a:lnTo>
                  <a:pt x="314516" y="8161020"/>
                </a:lnTo>
                <a:lnTo>
                  <a:pt x="0" y="8161020"/>
                </a:lnTo>
                <a:lnTo>
                  <a:pt x="0" y="0"/>
                </a:lnTo>
                <a:close/>
              </a:path>
            </a:pathLst>
          </a:custGeom>
          <a:blipFill>
            <a:blip r:embed="rId3"/>
            <a:stretch>
              <a:fillRect l="-57941" r="-57941"/>
            </a:stretch>
          </a:blipFill>
        </p:spPr>
      </p:sp>
      <p:sp>
        <p:nvSpPr>
          <p:cNvPr id="4" name="Freeform 4" descr="A close up of a sign  Description automatically generated"/>
          <p:cNvSpPr/>
          <p:nvPr/>
        </p:nvSpPr>
        <p:spPr>
          <a:xfrm>
            <a:off x="16472728" y="9176862"/>
            <a:ext cx="1303024" cy="971230"/>
          </a:xfrm>
          <a:custGeom>
            <a:avLst/>
            <a:gdLst/>
            <a:ahLst/>
            <a:cxnLst/>
            <a:rect l="l" t="t" r="r" b="b"/>
            <a:pathLst>
              <a:path w="1303024" h="971230">
                <a:moveTo>
                  <a:pt x="0" y="0"/>
                </a:moveTo>
                <a:lnTo>
                  <a:pt x="1303024" y="0"/>
                </a:lnTo>
                <a:lnTo>
                  <a:pt x="1303024" y="971230"/>
                </a:lnTo>
                <a:lnTo>
                  <a:pt x="0" y="971230"/>
                </a:lnTo>
                <a:lnTo>
                  <a:pt x="0" y="0"/>
                </a:lnTo>
                <a:close/>
              </a:path>
            </a:pathLst>
          </a:custGeom>
          <a:blipFill>
            <a:blip r:embed="rId4"/>
            <a:stretch>
              <a:fillRect t="-70" b="-70"/>
            </a:stretch>
          </a:blipFill>
        </p:spPr>
      </p:sp>
      <p:sp>
        <p:nvSpPr>
          <p:cNvPr id="5" name="Freeform 5" descr="A picture containing drawing  Description automatically generated"/>
          <p:cNvSpPr/>
          <p:nvPr/>
        </p:nvSpPr>
        <p:spPr>
          <a:xfrm>
            <a:off x="851535" y="9176862"/>
            <a:ext cx="3983352" cy="995838"/>
          </a:xfrm>
          <a:custGeom>
            <a:avLst/>
            <a:gdLst/>
            <a:ahLst/>
            <a:cxnLst/>
            <a:rect l="l" t="t" r="r" b="b"/>
            <a:pathLst>
              <a:path w="3983352" h="995838">
                <a:moveTo>
                  <a:pt x="0" y="0"/>
                </a:moveTo>
                <a:lnTo>
                  <a:pt x="3983352" y="0"/>
                </a:lnTo>
                <a:lnTo>
                  <a:pt x="3983352" y="995838"/>
                </a:lnTo>
                <a:lnTo>
                  <a:pt x="0" y="995838"/>
                </a:lnTo>
                <a:lnTo>
                  <a:pt x="0" y="0"/>
                </a:lnTo>
                <a:close/>
              </a:path>
            </a:pathLst>
          </a:custGeom>
          <a:blipFill>
            <a:blip r:embed="rId5"/>
            <a:stretch>
              <a:fillRect/>
            </a:stretch>
          </a:blipFill>
        </p:spPr>
      </p:sp>
      <p:sp>
        <p:nvSpPr>
          <p:cNvPr id="6" name="TextBox 6"/>
          <p:cNvSpPr txBox="1"/>
          <p:nvPr/>
        </p:nvSpPr>
        <p:spPr>
          <a:xfrm>
            <a:off x="6953665" y="266700"/>
            <a:ext cx="4728131" cy="755016"/>
          </a:xfrm>
          <a:prstGeom prst="rect">
            <a:avLst/>
          </a:prstGeom>
        </p:spPr>
        <p:txBody>
          <a:bodyPr wrap="square" lIns="0" tIns="0" rIns="0" bIns="0" rtlCol="0" anchor="t">
            <a:spAutoFit/>
          </a:bodyPr>
          <a:lstStyle/>
          <a:p>
            <a:pPr algn="ctr">
              <a:lnSpc>
                <a:spcPts val="6159"/>
              </a:lnSpc>
              <a:spcBef>
                <a:spcPct val="0"/>
              </a:spcBef>
            </a:pPr>
            <a:r>
              <a:rPr lang="en-US" sz="4399" b="1" i="1" u="sng" dirty="0">
                <a:solidFill>
                  <a:srgbClr val="000000"/>
                </a:solidFill>
                <a:latin typeface="Canva Sans Bold Italics"/>
                <a:ea typeface="Canva Sans Bold Italics"/>
                <a:cs typeface="Canva Sans Bold Italics"/>
                <a:sym typeface="Canva Sans Bold Italics"/>
              </a:rPr>
              <a:t>Introduction</a:t>
            </a:r>
          </a:p>
        </p:txBody>
      </p:sp>
      <p:sp>
        <p:nvSpPr>
          <p:cNvPr id="7" name="TextBox 7"/>
          <p:cNvSpPr txBox="1"/>
          <p:nvPr/>
        </p:nvSpPr>
        <p:spPr>
          <a:xfrm>
            <a:off x="1376163" y="1167283"/>
            <a:ext cx="15883137" cy="7389780"/>
          </a:xfrm>
          <a:prstGeom prst="rect">
            <a:avLst/>
          </a:prstGeom>
        </p:spPr>
        <p:txBody>
          <a:bodyPr lIns="0" tIns="0" rIns="0" bIns="0" rtlCol="0" anchor="t">
            <a:spAutoFit/>
          </a:bodyPr>
          <a:lstStyle/>
          <a:p>
            <a:pPr>
              <a:buNone/>
            </a:pPr>
            <a:r>
              <a:rPr lang="en-US" sz="3000" dirty="0">
                <a:latin typeface="Canva Sans" panose="020B0604020202020204" charset="0"/>
              </a:rPr>
              <a:t>In the dynamic world of financial markets, accurately forecasting stock prices is crucial for making informed investment decisions. Traditional statistical models often struggle to capture the sequential dependencies and complex patterns in historical financial data.</a:t>
            </a:r>
          </a:p>
          <a:p>
            <a:pPr>
              <a:buNone/>
            </a:pPr>
            <a:r>
              <a:rPr lang="en-US" sz="3000" dirty="0">
                <a:latin typeface="Canva Sans" panose="020B0604020202020204" charset="0"/>
              </a:rPr>
              <a:t>This project investigates the use of </a:t>
            </a:r>
            <a:r>
              <a:rPr lang="en-US" sz="3000" b="1" dirty="0">
                <a:latin typeface="Canva Sans" panose="020B0604020202020204" charset="0"/>
              </a:rPr>
              <a:t>Long Short-Term Memory (LSTM)</a:t>
            </a:r>
            <a:r>
              <a:rPr lang="en-US" sz="3000" dirty="0">
                <a:latin typeface="Canva Sans" panose="020B0604020202020204" charset="0"/>
              </a:rPr>
              <a:t> neural networks—a type of Recurrent Neural Network (RNN)—for time series forecasting of stock prices. LSTMs are particularly well-suited for capturing long-term dependencies in sequential data, making them ideal for financial time-series prediction tasks.</a:t>
            </a:r>
          </a:p>
          <a:p>
            <a:pPr>
              <a:buNone/>
            </a:pPr>
            <a:r>
              <a:rPr lang="en-US" sz="3000" dirty="0">
                <a:latin typeface="Canva Sans" panose="020B0604020202020204" charset="0"/>
              </a:rPr>
              <a:t>The model was trained on historical stock data to learn patterns and trends, then evaluated for its predictive performance. Through this project, we aim not only to improve forecast accuracy but also to deepen our understanding of data preprocessing techniques, model tuning, and evaluation strategies specific to time-series problems.</a:t>
            </a:r>
          </a:p>
          <a:p>
            <a:r>
              <a:rPr lang="en-US" sz="3000" dirty="0">
                <a:latin typeface="Canva Sans" panose="020B0604020202020204" charset="0"/>
              </a:rPr>
              <a:t>This approach highlights the strength of LSTMs in financial forecasting and their potential role in real-world trading systems and investment strategies.</a:t>
            </a:r>
          </a:p>
          <a:p>
            <a:pPr algn="l">
              <a:lnSpc>
                <a:spcPts val="3847"/>
              </a:lnSpc>
            </a:pPr>
            <a:endParaRPr lang="en-US" sz="3000" dirty="0">
              <a:solidFill>
                <a:srgbClr val="000000"/>
              </a:solidFill>
              <a:latin typeface="Canva Sans"/>
              <a:ea typeface="Canva Sans"/>
              <a:cs typeface="Canva Sans"/>
              <a:sym typeface="Canva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08" y="3328"/>
            <a:ext cx="850437" cy="10283672"/>
          </a:xfrm>
          <a:custGeom>
            <a:avLst/>
            <a:gdLst/>
            <a:ahLst/>
            <a:cxnLst/>
            <a:rect l="l" t="t" r="r" b="b"/>
            <a:pathLst>
              <a:path w="850437" h="10283672">
                <a:moveTo>
                  <a:pt x="0" y="0"/>
                </a:moveTo>
                <a:lnTo>
                  <a:pt x="850436" y="0"/>
                </a:lnTo>
                <a:lnTo>
                  <a:pt x="850436" y="10283672"/>
                </a:lnTo>
                <a:lnTo>
                  <a:pt x="0" y="10283672"/>
                </a:lnTo>
                <a:lnTo>
                  <a:pt x="0" y="0"/>
                </a:lnTo>
                <a:close/>
              </a:path>
            </a:pathLst>
          </a:custGeom>
          <a:blipFill>
            <a:blip r:embed="rId2"/>
            <a:stretch>
              <a:fillRect l="-63364" r="-63364"/>
            </a:stretch>
          </a:blipFill>
        </p:spPr>
      </p:sp>
      <p:sp>
        <p:nvSpPr>
          <p:cNvPr id="3" name="Freeform 3"/>
          <p:cNvSpPr/>
          <p:nvPr/>
        </p:nvSpPr>
        <p:spPr>
          <a:xfrm>
            <a:off x="851344" y="0"/>
            <a:ext cx="314516" cy="8161020"/>
          </a:xfrm>
          <a:custGeom>
            <a:avLst/>
            <a:gdLst/>
            <a:ahLst/>
            <a:cxnLst/>
            <a:rect l="l" t="t" r="r" b="b"/>
            <a:pathLst>
              <a:path w="314516" h="8161020">
                <a:moveTo>
                  <a:pt x="0" y="0"/>
                </a:moveTo>
                <a:lnTo>
                  <a:pt x="314516" y="0"/>
                </a:lnTo>
                <a:lnTo>
                  <a:pt x="314516" y="8161020"/>
                </a:lnTo>
                <a:lnTo>
                  <a:pt x="0" y="8161020"/>
                </a:lnTo>
                <a:lnTo>
                  <a:pt x="0" y="0"/>
                </a:lnTo>
                <a:close/>
              </a:path>
            </a:pathLst>
          </a:custGeom>
          <a:blipFill>
            <a:blip r:embed="rId3"/>
            <a:stretch>
              <a:fillRect l="-57941" r="-57941"/>
            </a:stretch>
          </a:blipFill>
        </p:spPr>
      </p:sp>
      <p:sp>
        <p:nvSpPr>
          <p:cNvPr id="4" name="Freeform 4" descr="A close up of a sign  Description automatically generated"/>
          <p:cNvSpPr/>
          <p:nvPr/>
        </p:nvSpPr>
        <p:spPr>
          <a:xfrm>
            <a:off x="16472728" y="9176862"/>
            <a:ext cx="1303024" cy="971230"/>
          </a:xfrm>
          <a:custGeom>
            <a:avLst/>
            <a:gdLst/>
            <a:ahLst/>
            <a:cxnLst/>
            <a:rect l="l" t="t" r="r" b="b"/>
            <a:pathLst>
              <a:path w="1303024" h="971230">
                <a:moveTo>
                  <a:pt x="0" y="0"/>
                </a:moveTo>
                <a:lnTo>
                  <a:pt x="1303024" y="0"/>
                </a:lnTo>
                <a:lnTo>
                  <a:pt x="1303024" y="971230"/>
                </a:lnTo>
                <a:lnTo>
                  <a:pt x="0" y="971230"/>
                </a:lnTo>
                <a:lnTo>
                  <a:pt x="0" y="0"/>
                </a:lnTo>
                <a:close/>
              </a:path>
            </a:pathLst>
          </a:custGeom>
          <a:blipFill>
            <a:blip r:embed="rId4"/>
            <a:stretch>
              <a:fillRect t="-70" b="-70"/>
            </a:stretch>
          </a:blipFill>
        </p:spPr>
      </p:sp>
      <p:sp>
        <p:nvSpPr>
          <p:cNvPr id="5" name="Freeform 5" descr="A picture containing drawing  Description automatically generated"/>
          <p:cNvSpPr/>
          <p:nvPr/>
        </p:nvSpPr>
        <p:spPr>
          <a:xfrm>
            <a:off x="851345" y="9258300"/>
            <a:ext cx="3983352" cy="995838"/>
          </a:xfrm>
          <a:custGeom>
            <a:avLst/>
            <a:gdLst/>
            <a:ahLst/>
            <a:cxnLst/>
            <a:rect l="l" t="t" r="r" b="b"/>
            <a:pathLst>
              <a:path w="3983352" h="995838">
                <a:moveTo>
                  <a:pt x="0" y="0"/>
                </a:moveTo>
                <a:lnTo>
                  <a:pt x="3983352" y="0"/>
                </a:lnTo>
                <a:lnTo>
                  <a:pt x="3983352" y="995838"/>
                </a:lnTo>
                <a:lnTo>
                  <a:pt x="0" y="995838"/>
                </a:lnTo>
                <a:lnTo>
                  <a:pt x="0" y="0"/>
                </a:lnTo>
                <a:close/>
              </a:path>
            </a:pathLst>
          </a:custGeom>
          <a:blipFill>
            <a:blip r:embed="rId5"/>
            <a:stretch>
              <a:fillRect/>
            </a:stretch>
          </a:blipFill>
        </p:spPr>
      </p:sp>
      <p:sp>
        <p:nvSpPr>
          <p:cNvPr id="6" name="TextBox 6"/>
          <p:cNvSpPr txBox="1"/>
          <p:nvPr/>
        </p:nvSpPr>
        <p:spPr>
          <a:xfrm>
            <a:off x="1323117" y="1226871"/>
            <a:ext cx="11323516" cy="8031429"/>
          </a:xfrm>
          <a:prstGeom prst="rect">
            <a:avLst/>
          </a:prstGeom>
        </p:spPr>
        <p:txBody>
          <a:bodyPr wrap="square" lIns="0" tIns="0" rIns="0" bIns="0" rtlCol="0" anchor="t">
            <a:spAutoFit/>
          </a:bodyPr>
          <a:lstStyle/>
          <a:p>
            <a:pPr marL="457200" indent="-457200">
              <a:buFont typeface="Arial" panose="020B0604020202020204" pitchFamily="34" charset="0"/>
              <a:buChar char="•"/>
            </a:pPr>
            <a:r>
              <a:rPr lang="en-US" sz="2700" dirty="0">
                <a:latin typeface="Canva Sans" panose="020B0604020202020204" charset="0"/>
              </a:rPr>
              <a:t>Collected using the </a:t>
            </a:r>
            <a:r>
              <a:rPr lang="en-US" sz="2700" b="1" dirty="0">
                <a:latin typeface="Canva Sans" panose="020B0604020202020204" charset="0"/>
              </a:rPr>
              <a:t>Yahoo Finance API</a:t>
            </a:r>
            <a:r>
              <a:rPr lang="en-US" sz="2700" dirty="0">
                <a:latin typeface="Canva Sans" panose="020B0604020202020204" charset="0"/>
              </a:rPr>
              <a:t>, this dataset contains detailed historical stock data for leading companies such as </a:t>
            </a:r>
            <a:r>
              <a:rPr lang="en-US" sz="2700" b="1" dirty="0">
                <a:latin typeface="Canva Sans" panose="020B0604020202020204" charset="0"/>
              </a:rPr>
              <a:t>Apple (AAPL)</a:t>
            </a:r>
            <a:r>
              <a:rPr lang="en-US" sz="2700" dirty="0">
                <a:latin typeface="Canva Sans" panose="020B0604020202020204" charset="0"/>
              </a:rPr>
              <a:t>, </a:t>
            </a:r>
            <a:r>
              <a:rPr lang="en-US" sz="2700" b="1" dirty="0">
                <a:latin typeface="Canva Sans" panose="020B0604020202020204" charset="0"/>
              </a:rPr>
              <a:t>Google (GOOGL)</a:t>
            </a:r>
            <a:r>
              <a:rPr lang="en-US" sz="2700" dirty="0">
                <a:latin typeface="Canva Sans" panose="020B0604020202020204" charset="0"/>
              </a:rPr>
              <a:t>, and others. Each record includes essential financial indicators like </a:t>
            </a:r>
            <a:r>
              <a:rPr lang="en-US" sz="2700" b="1" dirty="0">
                <a:latin typeface="Canva Sans" panose="020B0604020202020204" charset="0"/>
              </a:rPr>
              <a:t>Open</a:t>
            </a:r>
            <a:r>
              <a:rPr lang="en-US" sz="2700" dirty="0">
                <a:latin typeface="Canva Sans" panose="020B0604020202020204" charset="0"/>
              </a:rPr>
              <a:t>, </a:t>
            </a:r>
            <a:r>
              <a:rPr lang="en-US" sz="2700" b="1" dirty="0">
                <a:latin typeface="Canva Sans" panose="020B0604020202020204" charset="0"/>
              </a:rPr>
              <a:t>High</a:t>
            </a:r>
            <a:r>
              <a:rPr lang="en-US" sz="2700" dirty="0">
                <a:latin typeface="Canva Sans" panose="020B0604020202020204" charset="0"/>
              </a:rPr>
              <a:t>, </a:t>
            </a:r>
            <a:r>
              <a:rPr lang="en-US" sz="2700" b="1" dirty="0">
                <a:latin typeface="Canva Sans" panose="020B0604020202020204" charset="0"/>
              </a:rPr>
              <a:t>Low</a:t>
            </a:r>
            <a:r>
              <a:rPr lang="en-US" sz="2700" dirty="0">
                <a:latin typeface="Canva Sans" panose="020B0604020202020204" charset="0"/>
              </a:rPr>
              <a:t>, </a:t>
            </a:r>
            <a:r>
              <a:rPr lang="en-US" sz="2700" b="1" dirty="0">
                <a:latin typeface="Canva Sans" panose="020B0604020202020204" charset="0"/>
              </a:rPr>
              <a:t>Close</a:t>
            </a:r>
            <a:r>
              <a:rPr lang="en-US" sz="2700" dirty="0">
                <a:latin typeface="Canva Sans" panose="020B0604020202020204" charset="0"/>
              </a:rPr>
              <a:t>, and </a:t>
            </a:r>
            <a:r>
              <a:rPr lang="en-US" sz="2700" b="1" dirty="0">
                <a:latin typeface="Canva Sans" panose="020B0604020202020204" charset="0"/>
              </a:rPr>
              <a:t>Volume</a:t>
            </a:r>
            <a:r>
              <a:rPr lang="en-US" sz="2700" dirty="0">
                <a:latin typeface="Canva Sans" panose="020B0604020202020204" charset="0"/>
              </a:rPr>
              <a:t>, offering a comprehensive view of daily market behavior.</a:t>
            </a:r>
          </a:p>
          <a:p>
            <a:pPr marL="457200" indent="-457200">
              <a:buFont typeface="Arial" panose="020B0604020202020204" pitchFamily="34" charset="0"/>
              <a:buChar char="•"/>
            </a:pPr>
            <a:r>
              <a:rPr lang="en-US" sz="2700" dirty="0">
                <a:latin typeface="Canva Sans" panose="020B0604020202020204" charset="0"/>
              </a:rPr>
              <a:t>The dataset comprises approximately </a:t>
            </a:r>
            <a:r>
              <a:rPr lang="en-US" sz="2700" b="1" dirty="0">
                <a:latin typeface="Canva Sans" panose="020B0604020202020204" charset="0"/>
              </a:rPr>
              <a:t>2,500 daily entries per stock</a:t>
            </a:r>
            <a:r>
              <a:rPr lang="en-US" sz="2700" dirty="0">
                <a:latin typeface="Canva Sans" panose="020B0604020202020204" charset="0"/>
              </a:rPr>
              <a:t>, spanning multiple years of trading activity. Each entry is structured with six key attributes:</a:t>
            </a:r>
          </a:p>
          <a:p>
            <a:r>
              <a:rPr lang="en-US" sz="2700" b="1" dirty="0">
                <a:latin typeface="Canva Sans" panose="020B0604020202020204" charset="0"/>
              </a:rPr>
              <a:t>      Date ,Open, High, Low, Close,</a:t>
            </a:r>
            <a:r>
              <a:rPr lang="en-US" sz="2700" dirty="0">
                <a:latin typeface="Canva Sans" panose="020B0604020202020204" charset="0"/>
              </a:rPr>
              <a:t> </a:t>
            </a:r>
            <a:r>
              <a:rPr lang="en-US" sz="2700" b="1" dirty="0">
                <a:latin typeface="Canva Sans" panose="020B0604020202020204" charset="0"/>
              </a:rPr>
              <a:t>Volume</a:t>
            </a:r>
            <a:endParaRPr lang="en-US" sz="2700" dirty="0">
              <a:latin typeface="Canva Sans" panose="020B0604020202020204" charset="0"/>
            </a:endParaRPr>
          </a:p>
          <a:p>
            <a:pPr marL="457200" indent="-457200">
              <a:buFont typeface="Arial" panose="020B0604020202020204" pitchFamily="34" charset="0"/>
              <a:buChar char="•"/>
            </a:pPr>
            <a:r>
              <a:rPr lang="en-US" sz="2700" dirty="0">
                <a:latin typeface="Canva Sans" panose="020B0604020202020204" charset="0"/>
              </a:rPr>
              <a:t>The </a:t>
            </a:r>
            <a:r>
              <a:rPr lang="en-US" sz="2700" b="1" dirty="0">
                <a:latin typeface="Canva Sans" panose="020B0604020202020204" charset="0"/>
              </a:rPr>
              <a:t>target variable</a:t>
            </a:r>
            <a:r>
              <a:rPr lang="en-US" sz="2700" dirty="0">
                <a:latin typeface="Canva Sans" panose="020B0604020202020204" charset="0"/>
              </a:rPr>
              <a:t> is the </a:t>
            </a:r>
            <a:r>
              <a:rPr lang="en-US" sz="2700" b="1" dirty="0">
                <a:latin typeface="Canva Sans" panose="020B0604020202020204" charset="0"/>
              </a:rPr>
              <a:t>next day's closing price</a:t>
            </a:r>
            <a:r>
              <a:rPr lang="en-US" sz="2700" dirty="0">
                <a:latin typeface="Canva Sans" panose="020B0604020202020204" charset="0"/>
              </a:rPr>
              <a:t>, making this dataset highly suitable for </a:t>
            </a:r>
            <a:r>
              <a:rPr lang="en-US" sz="2700" b="1" dirty="0">
                <a:latin typeface="Canva Sans" panose="020B0604020202020204" charset="0"/>
              </a:rPr>
              <a:t>time-series forecasting</a:t>
            </a:r>
            <a:r>
              <a:rPr lang="en-US" sz="2700" dirty="0">
                <a:latin typeface="Canva Sans" panose="020B0604020202020204" charset="0"/>
              </a:rPr>
              <a:t> tasks.</a:t>
            </a:r>
          </a:p>
          <a:p>
            <a:pPr marL="457200" indent="-457200">
              <a:buFont typeface="Arial" panose="020B0604020202020204" pitchFamily="34" charset="0"/>
              <a:buChar char="•"/>
            </a:pPr>
            <a:r>
              <a:rPr lang="en-US" sz="2700" dirty="0">
                <a:latin typeface="Canva Sans" panose="020B0604020202020204" charset="0"/>
              </a:rPr>
              <a:t>This structured and real-world financial dataset enables the development and evaluation of machine learning models, particularly those focused on sequential learning, such as LSTM. Its accessibility and alignment with real market data make it a valuable resource for both academic research and practical financial modeling.</a:t>
            </a:r>
          </a:p>
          <a:p>
            <a:pPr marL="604523" lvl="1" indent="-302261" algn="ctr">
              <a:lnSpc>
                <a:spcPts val="3920"/>
              </a:lnSpc>
              <a:spcBef>
                <a:spcPct val="0"/>
              </a:spcBef>
              <a:buFont typeface="Arial"/>
              <a:buChar char="•"/>
            </a:pPr>
            <a:endParaRPr lang="en-US" sz="2800" dirty="0">
              <a:solidFill>
                <a:srgbClr val="000000"/>
              </a:solidFill>
              <a:latin typeface="Canva Sans"/>
              <a:ea typeface="Canva Sans"/>
              <a:cs typeface="Canva Sans"/>
              <a:sym typeface="Canva Sans"/>
            </a:endParaRPr>
          </a:p>
          <a:p>
            <a:pPr marL="604523" lvl="1" indent="-302261" algn="ctr">
              <a:lnSpc>
                <a:spcPts val="3920"/>
              </a:lnSpc>
              <a:spcBef>
                <a:spcPct val="0"/>
              </a:spcBef>
              <a:buFont typeface="Arial"/>
              <a:buChar char="•"/>
            </a:pPr>
            <a:endParaRPr lang="en-US" sz="2800" dirty="0">
              <a:solidFill>
                <a:srgbClr val="000000"/>
              </a:solidFill>
              <a:latin typeface="Canva Sans"/>
              <a:ea typeface="Canva Sans"/>
              <a:cs typeface="Canva Sans"/>
              <a:sym typeface="Canva Sans"/>
            </a:endParaRPr>
          </a:p>
        </p:txBody>
      </p:sp>
      <p:sp>
        <p:nvSpPr>
          <p:cNvPr id="8" name="TextBox 8"/>
          <p:cNvSpPr txBox="1"/>
          <p:nvPr/>
        </p:nvSpPr>
        <p:spPr>
          <a:xfrm>
            <a:off x="3429000" y="-82396"/>
            <a:ext cx="10744200" cy="741998"/>
          </a:xfrm>
          <a:prstGeom prst="rect">
            <a:avLst/>
          </a:prstGeom>
        </p:spPr>
        <p:txBody>
          <a:bodyPr wrap="square" lIns="0" tIns="0" rIns="0" bIns="0" rtlCol="0" anchor="t">
            <a:spAutoFit/>
          </a:bodyPr>
          <a:lstStyle/>
          <a:p>
            <a:pPr algn="ctr">
              <a:lnSpc>
                <a:spcPts val="6159"/>
              </a:lnSpc>
              <a:spcBef>
                <a:spcPct val="0"/>
              </a:spcBef>
            </a:pPr>
            <a:r>
              <a:rPr lang="en-US" sz="4399" b="1" i="1" u="sng" dirty="0">
                <a:solidFill>
                  <a:srgbClr val="000000"/>
                </a:solidFill>
                <a:latin typeface="Canva Sans Bold Italics"/>
                <a:ea typeface="Canva Sans Bold Italics"/>
                <a:cs typeface="Canva Sans Bold Italics"/>
                <a:sym typeface="Canva Sans Bold Italics"/>
              </a:rPr>
              <a:t>Yahoo Finance Dataset Overview</a:t>
            </a:r>
          </a:p>
        </p:txBody>
      </p:sp>
      <p:pic>
        <p:nvPicPr>
          <p:cNvPr id="3074" name="Picture 2" descr="Download Yahoo Finance: Stocks &amp; News APKs for Android - APKMirror">
            <a:extLst>
              <a:ext uri="{FF2B5EF4-FFF2-40B4-BE49-F238E27FC236}">
                <a16:creationId xmlns:a16="http://schemas.microsoft.com/office/drawing/2014/main" id="{F9182D5D-117C-2185-EEB3-823A2730E69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803891" y="2315763"/>
            <a:ext cx="4876800" cy="48768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08" y="3328"/>
            <a:ext cx="850437" cy="10283672"/>
          </a:xfrm>
          <a:custGeom>
            <a:avLst/>
            <a:gdLst/>
            <a:ahLst/>
            <a:cxnLst/>
            <a:rect l="l" t="t" r="r" b="b"/>
            <a:pathLst>
              <a:path w="850437" h="10283672">
                <a:moveTo>
                  <a:pt x="0" y="0"/>
                </a:moveTo>
                <a:lnTo>
                  <a:pt x="850436" y="0"/>
                </a:lnTo>
                <a:lnTo>
                  <a:pt x="850436" y="10283672"/>
                </a:lnTo>
                <a:lnTo>
                  <a:pt x="0" y="10283672"/>
                </a:lnTo>
                <a:lnTo>
                  <a:pt x="0" y="0"/>
                </a:lnTo>
                <a:close/>
              </a:path>
            </a:pathLst>
          </a:custGeom>
          <a:blipFill>
            <a:blip r:embed="rId2"/>
            <a:stretch>
              <a:fillRect l="-63364" r="-63364"/>
            </a:stretch>
          </a:blipFill>
        </p:spPr>
      </p:sp>
      <p:sp>
        <p:nvSpPr>
          <p:cNvPr id="3" name="Freeform 3"/>
          <p:cNvSpPr/>
          <p:nvPr/>
        </p:nvSpPr>
        <p:spPr>
          <a:xfrm>
            <a:off x="851344" y="0"/>
            <a:ext cx="314516" cy="8161020"/>
          </a:xfrm>
          <a:custGeom>
            <a:avLst/>
            <a:gdLst/>
            <a:ahLst/>
            <a:cxnLst/>
            <a:rect l="l" t="t" r="r" b="b"/>
            <a:pathLst>
              <a:path w="314516" h="8161020">
                <a:moveTo>
                  <a:pt x="0" y="0"/>
                </a:moveTo>
                <a:lnTo>
                  <a:pt x="314516" y="0"/>
                </a:lnTo>
                <a:lnTo>
                  <a:pt x="314516" y="8161020"/>
                </a:lnTo>
                <a:lnTo>
                  <a:pt x="0" y="8161020"/>
                </a:lnTo>
                <a:lnTo>
                  <a:pt x="0" y="0"/>
                </a:lnTo>
                <a:close/>
              </a:path>
            </a:pathLst>
          </a:custGeom>
          <a:blipFill>
            <a:blip r:embed="rId3"/>
            <a:stretch>
              <a:fillRect l="-57941" r="-57941"/>
            </a:stretch>
          </a:blipFill>
        </p:spPr>
      </p:sp>
      <p:sp>
        <p:nvSpPr>
          <p:cNvPr id="4" name="Freeform 4" descr="A close up of a sign  Description automatically generated"/>
          <p:cNvSpPr/>
          <p:nvPr/>
        </p:nvSpPr>
        <p:spPr>
          <a:xfrm>
            <a:off x="16472728" y="9176862"/>
            <a:ext cx="1303024" cy="971230"/>
          </a:xfrm>
          <a:custGeom>
            <a:avLst/>
            <a:gdLst/>
            <a:ahLst/>
            <a:cxnLst/>
            <a:rect l="l" t="t" r="r" b="b"/>
            <a:pathLst>
              <a:path w="1303024" h="971230">
                <a:moveTo>
                  <a:pt x="0" y="0"/>
                </a:moveTo>
                <a:lnTo>
                  <a:pt x="1303024" y="0"/>
                </a:lnTo>
                <a:lnTo>
                  <a:pt x="1303024" y="971230"/>
                </a:lnTo>
                <a:lnTo>
                  <a:pt x="0" y="971230"/>
                </a:lnTo>
                <a:lnTo>
                  <a:pt x="0" y="0"/>
                </a:lnTo>
                <a:close/>
              </a:path>
            </a:pathLst>
          </a:custGeom>
          <a:blipFill>
            <a:blip r:embed="rId4"/>
            <a:stretch>
              <a:fillRect t="-70" b="-70"/>
            </a:stretch>
          </a:blipFill>
        </p:spPr>
      </p:sp>
      <p:sp>
        <p:nvSpPr>
          <p:cNvPr id="5" name="Freeform 5" descr="A picture containing drawing  Description automatically generated"/>
          <p:cNvSpPr/>
          <p:nvPr/>
        </p:nvSpPr>
        <p:spPr>
          <a:xfrm>
            <a:off x="851535" y="9176862"/>
            <a:ext cx="3983352" cy="995838"/>
          </a:xfrm>
          <a:custGeom>
            <a:avLst/>
            <a:gdLst/>
            <a:ahLst/>
            <a:cxnLst/>
            <a:rect l="l" t="t" r="r" b="b"/>
            <a:pathLst>
              <a:path w="3983352" h="995838">
                <a:moveTo>
                  <a:pt x="0" y="0"/>
                </a:moveTo>
                <a:lnTo>
                  <a:pt x="3983352" y="0"/>
                </a:lnTo>
                <a:lnTo>
                  <a:pt x="3983352" y="995838"/>
                </a:lnTo>
                <a:lnTo>
                  <a:pt x="0" y="995838"/>
                </a:lnTo>
                <a:lnTo>
                  <a:pt x="0" y="0"/>
                </a:lnTo>
                <a:close/>
              </a:path>
            </a:pathLst>
          </a:custGeom>
          <a:blipFill>
            <a:blip r:embed="rId5"/>
            <a:stretch>
              <a:fillRect/>
            </a:stretch>
          </a:blipFill>
        </p:spPr>
      </p:sp>
      <p:sp>
        <p:nvSpPr>
          <p:cNvPr id="6" name="TextBox 6"/>
          <p:cNvSpPr txBox="1"/>
          <p:nvPr/>
        </p:nvSpPr>
        <p:spPr>
          <a:xfrm>
            <a:off x="6248400" y="584230"/>
            <a:ext cx="6499051" cy="741998"/>
          </a:xfrm>
          <a:prstGeom prst="rect">
            <a:avLst/>
          </a:prstGeom>
        </p:spPr>
        <p:txBody>
          <a:bodyPr wrap="square" lIns="0" tIns="0" rIns="0" bIns="0" rtlCol="0" anchor="t">
            <a:spAutoFit/>
          </a:bodyPr>
          <a:lstStyle/>
          <a:p>
            <a:pPr algn="ctr">
              <a:lnSpc>
                <a:spcPts val="6159"/>
              </a:lnSpc>
              <a:spcBef>
                <a:spcPct val="0"/>
              </a:spcBef>
            </a:pPr>
            <a:r>
              <a:rPr lang="en-US" sz="4399" b="1" i="1" u="sng" dirty="0">
                <a:solidFill>
                  <a:srgbClr val="000000"/>
                </a:solidFill>
                <a:latin typeface="Canva Sans Bold Italics"/>
                <a:ea typeface="Canva Sans Bold Italics"/>
                <a:cs typeface="Canva Sans Bold Italics"/>
                <a:sym typeface="Canva Sans Bold Italics"/>
              </a:rPr>
              <a:t>Project Objectives</a:t>
            </a:r>
          </a:p>
        </p:txBody>
      </p:sp>
      <p:sp>
        <p:nvSpPr>
          <p:cNvPr id="7" name="TextBox 7"/>
          <p:cNvSpPr txBox="1"/>
          <p:nvPr/>
        </p:nvSpPr>
        <p:spPr>
          <a:xfrm>
            <a:off x="1213358" y="1809924"/>
            <a:ext cx="16562394" cy="7879080"/>
          </a:xfrm>
          <a:prstGeom prst="rect">
            <a:avLst/>
          </a:prstGeom>
        </p:spPr>
        <p:txBody>
          <a:bodyPr lIns="0" tIns="0" rIns="0" bIns="0" rtlCol="0" anchor="t">
            <a:spAutoFit/>
          </a:bodyPr>
          <a:lstStyle/>
          <a:p>
            <a:pPr>
              <a:buNone/>
            </a:pPr>
            <a:r>
              <a:rPr lang="en-US" sz="3200" b="1" dirty="0"/>
              <a:t>To Design and Implement a Time-Series Forecasting Model Using LSTM:</a:t>
            </a:r>
            <a:br>
              <a:rPr lang="en-US" sz="3200" dirty="0"/>
            </a:br>
            <a:r>
              <a:rPr lang="en-US" sz="3200" dirty="0"/>
              <a:t>Develop a robust Long Short-Term Memory (LSTM) network capable of capturing temporal dependencies and patterns in historical stock data for accurate next-day price prediction.</a:t>
            </a:r>
          </a:p>
          <a:p>
            <a:pPr>
              <a:buNone/>
            </a:pPr>
            <a:r>
              <a:rPr lang="en-US" sz="3200" b="1" dirty="0"/>
              <a:t>To Preprocess and Prepare Stock Market Data Effectively:</a:t>
            </a:r>
            <a:br>
              <a:rPr lang="en-US" sz="3200" dirty="0"/>
            </a:br>
            <a:r>
              <a:rPr lang="en-US" sz="3200" dirty="0"/>
              <a:t>Apply crucial preprocessing techniques such as </a:t>
            </a:r>
            <a:r>
              <a:rPr lang="en-US" sz="3200" b="1" dirty="0"/>
              <a:t>scaling</a:t>
            </a:r>
            <a:r>
              <a:rPr lang="en-US" sz="3200" dirty="0"/>
              <a:t>, </a:t>
            </a:r>
            <a:r>
              <a:rPr lang="en-US" sz="3200" b="1" dirty="0"/>
              <a:t>normalization</a:t>
            </a:r>
            <a:r>
              <a:rPr lang="en-US" sz="3200" dirty="0"/>
              <a:t>, and </a:t>
            </a:r>
            <a:r>
              <a:rPr lang="en-US" sz="3200" b="1" dirty="0"/>
              <a:t>sequence generation</a:t>
            </a:r>
            <a:r>
              <a:rPr lang="en-US" sz="3200" dirty="0"/>
              <a:t> to structure the data appropriately for time-series modeling and enhance learning efficiency.</a:t>
            </a:r>
          </a:p>
          <a:p>
            <a:pPr>
              <a:buNone/>
            </a:pPr>
            <a:r>
              <a:rPr lang="en-US" sz="3200" b="1" dirty="0"/>
              <a:t>To Train and Validate the LSTM Model:</a:t>
            </a:r>
            <a:br>
              <a:rPr lang="en-US" sz="3200" dirty="0"/>
            </a:br>
            <a:r>
              <a:rPr lang="en-US" sz="3200" dirty="0"/>
              <a:t>Utilize effective training strategies, including suitable loss functions, optimizers (e.g., Adam), and early stopping to ensure the model learns temporal patterns without overfitting.</a:t>
            </a:r>
          </a:p>
          <a:p>
            <a:pPr>
              <a:buNone/>
            </a:pPr>
            <a:r>
              <a:rPr lang="en-US" sz="3200" b="1" dirty="0"/>
              <a:t>To Evaluate Forecasting Accuracy Using Quantitative Metrics:</a:t>
            </a:r>
            <a:br>
              <a:rPr lang="en-US" sz="3200" dirty="0"/>
            </a:br>
            <a:r>
              <a:rPr lang="en-US" sz="3200" dirty="0"/>
              <a:t>Assess the predictive performance of the trained model using regression-based evaluation metrics like </a:t>
            </a:r>
            <a:r>
              <a:rPr lang="en-US" sz="3200" b="1" dirty="0"/>
              <a:t>Mean Squared Error (MSE)</a:t>
            </a:r>
            <a:r>
              <a:rPr lang="en-US" sz="3200" dirty="0"/>
              <a:t> and </a:t>
            </a:r>
            <a:r>
              <a:rPr lang="en-US" sz="3200" b="1" dirty="0"/>
              <a:t>Root Mean Squared Error (RMSE)</a:t>
            </a:r>
            <a:r>
              <a:rPr lang="en-US" sz="3200" dirty="0"/>
              <a:t> to quantify forecast reliability.</a:t>
            </a:r>
          </a:p>
          <a:p>
            <a:r>
              <a:rPr lang="en-US" sz="3200" b="1" dirty="0"/>
              <a:t>To Visualize and Interpret Model Predictions:</a:t>
            </a:r>
            <a:br>
              <a:rPr lang="en-US" sz="3200" dirty="0"/>
            </a:br>
            <a:r>
              <a:rPr lang="en-US" sz="3200" dirty="0"/>
              <a:t>Compare </a:t>
            </a:r>
            <a:r>
              <a:rPr lang="en-US" sz="3200" b="1" dirty="0"/>
              <a:t>predicted vs. actual closing prices</a:t>
            </a:r>
            <a:r>
              <a:rPr lang="en-US" sz="3200" dirty="0"/>
              <a:t> through line plots, and analyze trends, errors, and anomalies to understand the model's behavior and improve forecasting decisions.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08" y="3328"/>
            <a:ext cx="850437" cy="10283672"/>
          </a:xfrm>
          <a:custGeom>
            <a:avLst/>
            <a:gdLst/>
            <a:ahLst/>
            <a:cxnLst/>
            <a:rect l="l" t="t" r="r" b="b"/>
            <a:pathLst>
              <a:path w="850437" h="10283672">
                <a:moveTo>
                  <a:pt x="0" y="0"/>
                </a:moveTo>
                <a:lnTo>
                  <a:pt x="850436" y="0"/>
                </a:lnTo>
                <a:lnTo>
                  <a:pt x="850436" y="10283672"/>
                </a:lnTo>
                <a:lnTo>
                  <a:pt x="0" y="10283672"/>
                </a:lnTo>
                <a:lnTo>
                  <a:pt x="0" y="0"/>
                </a:lnTo>
                <a:close/>
              </a:path>
            </a:pathLst>
          </a:custGeom>
          <a:blipFill>
            <a:blip r:embed="rId2"/>
            <a:stretch>
              <a:fillRect l="-63364" r="-63364"/>
            </a:stretch>
          </a:blipFill>
        </p:spPr>
      </p:sp>
      <p:sp>
        <p:nvSpPr>
          <p:cNvPr id="3" name="Freeform 3"/>
          <p:cNvSpPr/>
          <p:nvPr/>
        </p:nvSpPr>
        <p:spPr>
          <a:xfrm>
            <a:off x="851344" y="0"/>
            <a:ext cx="314516" cy="8161020"/>
          </a:xfrm>
          <a:custGeom>
            <a:avLst/>
            <a:gdLst/>
            <a:ahLst/>
            <a:cxnLst/>
            <a:rect l="l" t="t" r="r" b="b"/>
            <a:pathLst>
              <a:path w="314516" h="8161020">
                <a:moveTo>
                  <a:pt x="0" y="0"/>
                </a:moveTo>
                <a:lnTo>
                  <a:pt x="314516" y="0"/>
                </a:lnTo>
                <a:lnTo>
                  <a:pt x="314516" y="8161020"/>
                </a:lnTo>
                <a:lnTo>
                  <a:pt x="0" y="8161020"/>
                </a:lnTo>
                <a:lnTo>
                  <a:pt x="0" y="0"/>
                </a:lnTo>
                <a:close/>
              </a:path>
            </a:pathLst>
          </a:custGeom>
          <a:blipFill>
            <a:blip r:embed="rId3"/>
            <a:stretch>
              <a:fillRect l="-57941" r="-57941"/>
            </a:stretch>
          </a:blipFill>
        </p:spPr>
      </p:sp>
      <p:sp>
        <p:nvSpPr>
          <p:cNvPr id="4" name="Freeform 4" descr="A close up of a sign  Description automatically generated"/>
          <p:cNvSpPr/>
          <p:nvPr/>
        </p:nvSpPr>
        <p:spPr>
          <a:xfrm>
            <a:off x="16472728" y="9176862"/>
            <a:ext cx="1303024" cy="971230"/>
          </a:xfrm>
          <a:custGeom>
            <a:avLst/>
            <a:gdLst/>
            <a:ahLst/>
            <a:cxnLst/>
            <a:rect l="l" t="t" r="r" b="b"/>
            <a:pathLst>
              <a:path w="1303024" h="971230">
                <a:moveTo>
                  <a:pt x="0" y="0"/>
                </a:moveTo>
                <a:lnTo>
                  <a:pt x="1303024" y="0"/>
                </a:lnTo>
                <a:lnTo>
                  <a:pt x="1303024" y="971230"/>
                </a:lnTo>
                <a:lnTo>
                  <a:pt x="0" y="971230"/>
                </a:lnTo>
                <a:lnTo>
                  <a:pt x="0" y="0"/>
                </a:lnTo>
                <a:close/>
              </a:path>
            </a:pathLst>
          </a:custGeom>
          <a:blipFill>
            <a:blip r:embed="rId4"/>
            <a:stretch>
              <a:fillRect t="-70" b="-70"/>
            </a:stretch>
          </a:blipFill>
        </p:spPr>
      </p:sp>
      <p:sp>
        <p:nvSpPr>
          <p:cNvPr id="5" name="Freeform 5" descr="A picture containing drawing  Description automatically generated"/>
          <p:cNvSpPr/>
          <p:nvPr/>
        </p:nvSpPr>
        <p:spPr>
          <a:xfrm>
            <a:off x="851535" y="9176862"/>
            <a:ext cx="3983352" cy="995838"/>
          </a:xfrm>
          <a:custGeom>
            <a:avLst/>
            <a:gdLst/>
            <a:ahLst/>
            <a:cxnLst/>
            <a:rect l="l" t="t" r="r" b="b"/>
            <a:pathLst>
              <a:path w="3983352" h="995838">
                <a:moveTo>
                  <a:pt x="0" y="0"/>
                </a:moveTo>
                <a:lnTo>
                  <a:pt x="3983352" y="0"/>
                </a:lnTo>
                <a:lnTo>
                  <a:pt x="3983352" y="995838"/>
                </a:lnTo>
                <a:lnTo>
                  <a:pt x="0" y="995838"/>
                </a:lnTo>
                <a:lnTo>
                  <a:pt x="0" y="0"/>
                </a:lnTo>
                <a:close/>
              </a:path>
            </a:pathLst>
          </a:custGeom>
          <a:blipFill>
            <a:blip r:embed="rId5"/>
            <a:stretch>
              <a:fillRect/>
            </a:stretch>
          </a:blipFill>
        </p:spPr>
      </p:sp>
      <p:sp>
        <p:nvSpPr>
          <p:cNvPr id="7" name="TextBox 7"/>
          <p:cNvSpPr txBox="1"/>
          <p:nvPr/>
        </p:nvSpPr>
        <p:spPr>
          <a:xfrm>
            <a:off x="4038600" y="273684"/>
            <a:ext cx="9767702" cy="741998"/>
          </a:xfrm>
          <a:prstGeom prst="rect">
            <a:avLst/>
          </a:prstGeom>
        </p:spPr>
        <p:txBody>
          <a:bodyPr wrap="square" lIns="0" tIns="0" rIns="0" bIns="0" rtlCol="0" anchor="t">
            <a:spAutoFit/>
          </a:bodyPr>
          <a:lstStyle/>
          <a:p>
            <a:pPr algn="ctr">
              <a:lnSpc>
                <a:spcPts val="6159"/>
              </a:lnSpc>
              <a:spcBef>
                <a:spcPct val="0"/>
              </a:spcBef>
            </a:pPr>
            <a:r>
              <a:rPr lang="en-US" sz="4399" b="1" i="1" u="sng" dirty="0">
                <a:solidFill>
                  <a:srgbClr val="000000"/>
                </a:solidFill>
                <a:latin typeface="Canva Sans Bold Italics"/>
                <a:ea typeface="Canva Sans Bold Italics"/>
                <a:cs typeface="Canva Sans Bold Italics"/>
                <a:sym typeface="Canva Sans Bold Italics"/>
              </a:rPr>
              <a:t>Tools and Technologies Used</a:t>
            </a:r>
          </a:p>
        </p:txBody>
      </p:sp>
      <p:graphicFrame>
        <p:nvGraphicFramePr>
          <p:cNvPr id="8" name="Table 7">
            <a:extLst>
              <a:ext uri="{FF2B5EF4-FFF2-40B4-BE49-F238E27FC236}">
                <a16:creationId xmlns:a16="http://schemas.microsoft.com/office/drawing/2014/main" id="{4903301B-B04C-EB42-E433-9EC1E6243F77}"/>
              </a:ext>
            </a:extLst>
          </p:cNvPr>
          <p:cNvGraphicFramePr>
            <a:graphicFrameLocks noGrp="1"/>
          </p:cNvGraphicFramePr>
          <p:nvPr>
            <p:extLst>
              <p:ext uri="{D42A27DB-BD31-4B8C-83A1-F6EECF244321}">
                <p14:modId xmlns:p14="http://schemas.microsoft.com/office/powerpoint/2010/main" val="3915369706"/>
              </p:ext>
            </p:extLst>
          </p:nvPr>
        </p:nvGraphicFramePr>
        <p:xfrm>
          <a:off x="1600200" y="2044542"/>
          <a:ext cx="15544800" cy="6819185"/>
        </p:xfrm>
        <a:graphic>
          <a:graphicData uri="http://schemas.openxmlformats.org/drawingml/2006/table">
            <a:tbl>
              <a:tblPr>
                <a:tableStyleId>{616DA210-FB5B-4158-B5E0-FEB733F419BA}</a:tableStyleId>
              </a:tblPr>
              <a:tblGrid>
                <a:gridCol w="7772400">
                  <a:extLst>
                    <a:ext uri="{9D8B030D-6E8A-4147-A177-3AD203B41FA5}">
                      <a16:colId xmlns:a16="http://schemas.microsoft.com/office/drawing/2014/main" val="352899820"/>
                    </a:ext>
                  </a:extLst>
                </a:gridCol>
                <a:gridCol w="7772400">
                  <a:extLst>
                    <a:ext uri="{9D8B030D-6E8A-4147-A177-3AD203B41FA5}">
                      <a16:colId xmlns:a16="http://schemas.microsoft.com/office/drawing/2014/main" val="3974991264"/>
                    </a:ext>
                  </a:extLst>
                </a:gridCol>
              </a:tblGrid>
              <a:tr h="1126093">
                <a:tc>
                  <a:txBody>
                    <a:bodyPr/>
                    <a:lstStyle/>
                    <a:p>
                      <a:r>
                        <a:rPr lang="en-IN" sz="3600" dirty="0">
                          <a:latin typeface="Canva Sans" panose="020B0604020202020204" charset="0"/>
                        </a:rPr>
                        <a:t>Layer</a:t>
                      </a:r>
                    </a:p>
                  </a:txBody>
                  <a:tcPr anchor="ctr"/>
                </a:tc>
                <a:tc>
                  <a:txBody>
                    <a:bodyPr/>
                    <a:lstStyle/>
                    <a:p>
                      <a:r>
                        <a:rPr lang="en-IN" sz="3600">
                          <a:latin typeface="Canva Sans" panose="020B0604020202020204" charset="0"/>
                        </a:rPr>
                        <a:t>Technology</a:t>
                      </a:r>
                    </a:p>
                  </a:txBody>
                  <a:tcPr anchor="ctr"/>
                </a:tc>
                <a:extLst>
                  <a:ext uri="{0D108BD9-81ED-4DB2-BD59-A6C34878D82A}">
                    <a16:rowId xmlns:a16="http://schemas.microsoft.com/office/drawing/2014/main" val="4036420938"/>
                  </a:ext>
                </a:extLst>
              </a:tr>
              <a:tr h="1126093">
                <a:tc>
                  <a:txBody>
                    <a:bodyPr/>
                    <a:lstStyle/>
                    <a:p>
                      <a:r>
                        <a:rPr lang="en-IN" sz="3600" dirty="0">
                          <a:latin typeface="Canva Sans" panose="020B0604020202020204" charset="0"/>
                        </a:rPr>
                        <a:t>Language</a:t>
                      </a:r>
                    </a:p>
                  </a:txBody>
                  <a:tcPr anchor="ctr"/>
                </a:tc>
                <a:tc>
                  <a:txBody>
                    <a:bodyPr/>
                    <a:lstStyle/>
                    <a:p>
                      <a:r>
                        <a:rPr lang="en-IN" sz="3600">
                          <a:latin typeface="Canva Sans" panose="020B0604020202020204" charset="0"/>
                        </a:rPr>
                        <a:t>Python</a:t>
                      </a:r>
                    </a:p>
                  </a:txBody>
                  <a:tcPr anchor="ctr"/>
                </a:tc>
                <a:extLst>
                  <a:ext uri="{0D108BD9-81ED-4DB2-BD59-A6C34878D82A}">
                    <a16:rowId xmlns:a16="http://schemas.microsoft.com/office/drawing/2014/main" val="2286149065"/>
                  </a:ext>
                </a:extLst>
              </a:tr>
              <a:tr h="1126093">
                <a:tc>
                  <a:txBody>
                    <a:bodyPr/>
                    <a:lstStyle/>
                    <a:p>
                      <a:r>
                        <a:rPr lang="en-IN" sz="3600">
                          <a:latin typeface="Canva Sans" panose="020B0604020202020204" charset="0"/>
                        </a:rPr>
                        <a:t>Libraries</a:t>
                      </a:r>
                    </a:p>
                  </a:txBody>
                  <a:tcPr anchor="ctr"/>
                </a:tc>
                <a:tc>
                  <a:txBody>
                    <a:bodyPr/>
                    <a:lstStyle/>
                    <a:p>
                      <a:r>
                        <a:rPr lang="en-IN" sz="3600" dirty="0">
                          <a:latin typeface="Canva Sans" panose="020B0604020202020204" charset="0"/>
                        </a:rPr>
                        <a:t>TensorFlow/</a:t>
                      </a:r>
                      <a:r>
                        <a:rPr lang="en-IN" sz="3600" dirty="0" err="1">
                          <a:latin typeface="Canva Sans" panose="020B0604020202020204" charset="0"/>
                        </a:rPr>
                        <a:t>Keras</a:t>
                      </a:r>
                      <a:r>
                        <a:rPr lang="en-IN" sz="3600" dirty="0">
                          <a:latin typeface="Canva Sans" panose="020B0604020202020204" charset="0"/>
                        </a:rPr>
                        <a:t>, NumPy, Pandas</a:t>
                      </a:r>
                    </a:p>
                  </a:txBody>
                  <a:tcPr anchor="ctr"/>
                </a:tc>
                <a:extLst>
                  <a:ext uri="{0D108BD9-81ED-4DB2-BD59-A6C34878D82A}">
                    <a16:rowId xmlns:a16="http://schemas.microsoft.com/office/drawing/2014/main" val="256837733"/>
                  </a:ext>
                </a:extLst>
              </a:tr>
              <a:tr h="1126093">
                <a:tc>
                  <a:txBody>
                    <a:bodyPr/>
                    <a:lstStyle/>
                    <a:p>
                      <a:r>
                        <a:rPr lang="en-IN" sz="3600">
                          <a:latin typeface="Canva Sans" panose="020B0604020202020204" charset="0"/>
                        </a:rPr>
                        <a:t>Visualization</a:t>
                      </a:r>
                    </a:p>
                  </a:txBody>
                  <a:tcPr anchor="ctr"/>
                </a:tc>
                <a:tc>
                  <a:txBody>
                    <a:bodyPr/>
                    <a:lstStyle/>
                    <a:p>
                      <a:r>
                        <a:rPr lang="en-IN" sz="3600" dirty="0">
                          <a:latin typeface="Canva Sans" panose="020B0604020202020204" charset="0"/>
                        </a:rPr>
                        <a:t>Matplotlib</a:t>
                      </a:r>
                    </a:p>
                  </a:txBody>
                  <a:tcPr anchor="ctr"/>
                </a:tc>
                <a:extLst>
                  <a:ext uri="{0D108BD9-81ED-4DB2-BD59-A6C34878D82A}">
                    <a16:rowId xmlns:a16="http://schemas.microsoft.com/office/drawing/2014/main" val="354441743"/>
                  </a:ext>
                </a:extLst>
              </a:tr>
              <a:tr h="1126093">
                <a:tc>
                  <a:txBody>
                    <a:bodyPr/>
                    <a:lstStyle/>
                    <a:p>
                      <a:r>
                        <a:rPr lang="en-IN" sz="3600">
                          <a:latin typeface="Canva Sans" panose="020B0604020202020204" charset="0"/>
                        </a:rPr>
                        <a:t>Data Source</a:t>
                      </a:r>
                    </a:p>
                  </a:txBody>
                  <a:tcPr anchor="ctr"/>
                </a:tc>
                <a:tc>
                  <a:txBody>
                    <a:bodyPr/>
                    <a:lstStyle/>
                    <a:p>
                      <a:r>
                        <a:rPr lang="en-IN" sz="3600">
                          <a:latin typeface="Canva Sans" panose="020B0604020202020204" charset="0"/>
                        </a:rPr>
                        <a:t>Yahoo Finance API</a:t>
                      </a:r>
                    </a:p>
                  </a:txBody>
                  <a:tcPr anchor="ctr"/>
                </a:tc>
                <a:extLst>
                  <a:ext uri="{0D108BD9-81ED-4DB2-BD59-A6C34878D82A}">
                    <a16:rowId xmlns:a16="http://schemas.microsoft.com/office/drawing/2014/main" val="651988251"/>
                  </a:ext>
                </a:extLst>
              </a:tr>
              <a:tr h="1126093">
                <a:tc>
                  <a:txBody>
                    <a:bodyPr/>
                    <a:lstStyle/>
                    <a:p>
                      <a:r>
                        <a:rPr lang="en-IN" sz="3600">
                          <a:latin typeface="Canva Sans" panose="020B0604020202020204" charset="0"/>
                        </a:rPr>
                        <a:t>Development Environment</a:t>
                      </a:r>
                    </a:p>
                  </a:txBody>
                  <a:tcPr anchor="ctr"/>
                </a:tc>
                <a:tc>
                  <a:txBody>
                    <a:bodyPr/>
                    <a:lstStyle/>
                    <a:p>
                      <a:r>
                        <a:rPr lang="en-IN" sz="3600" dirty="0">
                          <a:latin typeface="Canva Sans" panose="020B0604020202020204" charset="0"/>
                        </a:rPr>
                        <a:t>Google </a:t>
                      </a:r>
                      <a:r>
                        <a:rPr lang="en-IN" sz="3600" dirty="0" err="1">
                          <a:latin typeface="Canva Sans" panose="020B0604020202020204" charset="0"/>
                        </a:rPr>
                        <a:t>Colab</a:t>
                      </a:r>
                      <a:endParaRPr lang="en-IN" sz="3600" dirty="0">
                        <a:latin typeface="Canva Sans" panose="020B0604020202020204" charset="0"/>
                      </a:endParaRPr>
                    </a:p>
                  </a:txBody>
                  <a:tcPr anchor="ctr"/>
                </a:tc>
                <a:extLst>
                  <a:ext uri="{0D108BD9-81ED-4DB2-BD59-A6C34878D82A}">
                    <a16:rowId xmlns:a16="http://schemas.microsoft.com/office/drawing/2014/main" val="770205306"/>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08" y="3328"/>
            <a:ext cx="850437" cy="10283672"/>
          </a:xfrm>
          <a:custGeom>
            <a:avLst/>
            <a:gdLst/>
            <a:ahLst/>
            <a:cxnLst/>
            <a:rect l="l" t="t" r="r" b="b"/>
            <a:pathLst>
              <a:path w="850437" h="10283672">
                <a:moveTo>
                  <a:pt x="0" y="0"/>
                </a:moveTo>
                <a:lnTo>
                  <a:pt x="850436" y="0"/>
                </a:lnTo>
                <a:lnTo>
                  <a:pt x="850436" y="10283672"/>
                </a:lnTo>
                <a:lnTo>
                  <a:pt x="0" y="10283672"/>
                </a:lnTo>
                <a:lnTo>
                  <a:pt x="0" y="0"/>
                </a:lnTo>
                <a:close/>
              </a:path>
            </a:pathLst>
          </a:custGeom>
          <a:blipFill>
            <a:blip r:embed="rId2"/>
            <a:stretch>
              <a:fillRect l="-63364" r="-63364"/>
            </a:stretch>
          </a:blipFill>
        </p:spPr>
      </p:sp>
      <p:sp>
        <p:nvSpPr>
          <p:cNvPr id="3" name="Freeform 3"/>
          <p:cNvSpPr/>
          <p:nvPr/>
        </p:nvSpPr>
        <p:spPr>
          <a:xfrm>
            <a:off x="851344" y="0"/>
            <a:ext cx="314516" cy="8161020"/>
          </a:xfrm>
          <a:custGeom>
            <a:avLst/>
            <a:gdLst/>
            <a:ahLst/>
            <a:cxnLst/>
            <a:rect l="l" t="t" r="r" b="b"/>
            <a:pathLst>
              <a:path w="314516" h="8161020">
                <a:moveTo>
                  <a:pt x="0" y="0"/>
                </a:moveTo>
                <a:lnTo>
                  <a:pt x="314516" y="0"/>
                </a:lnTo>
                <a:lnTo>
                  <a:pt x="314516" y="8161020"/>
                </a:lnTo>
                <a:lnTo>
                  <a:pt x="0" y="8161020"/>
                </a:lnTo>
                <a:lnTo>
                  <a:pt x="0" y="0"/>
                </a:lnTo>
                <a:close/>
              </a:path>
            </a:pathLst>
          </a:custGeom>
          <a:blipFill>
            <a:blip r:embed="rId3"/>
            <a:stretch>
              <a:fillRect l="-57941" r="-57941"/>
            </a:stretch>
          </a:blipFill>
        </p:spPr>
      </p:sp>
      <p:sp>
        <p:nvSpPr>
          <p:cNvPr id="4" name="Freeform 4" descr="A close up of a sign  Description automatically generated"/>
          <p:cNvSpPr/>
          <p:nvPr/>
        </p:nvSpPr>
        <p:spPr>
          <a:xfrm>
            <a:off x="16472728" y="9176862"/>
            <a:ext cx="1303024" cy="971230"/>
          </a:xfrm>
          <a:custGeom>
            <a:avLst/>
            <a:gdLst/>
            <a:ahLst/>
            <a:cxnLst/>
            <a:rect l="l" t="t" r="r" b="b"/>
            <a:pathLst>
              <a:path w="1303024" h="971230">
                <a:moveTo>
                  <a:pt x="0" y="0"/>
                </a:moveTo>
                <a:lnTo>
                  <a:pt x="1303024" y="0"/>
                </a:lnTo>
                <a:lnTo>
                  <a:pt x="1303024" y="971230"/>
                </a:lnTo>
                <a:lnTo>
                  <a:pt x="0" y="971230"/>
                </a:lnTo>
                <a:lnTo>
                  <a:pt x="0" y="0"/>
                </a:lnTo>
                <a:close/>
              </a:path>
            </a:pathLst>
          </a:custGeom>
          <a:blipFill>
            <a:blip r:embed="rId4"/>
            <a:stretch>
              <a:fillRect t="-70" b="-70"/>
            </a:stretch>
          </a:blipFill>
        </p:spPr>
      </p:sp>
      <p:sp>
        <p:nvSpPr>
          <p:cNvPr id="5" name="Freeform 5" descr="A picture containing drawing  Description automatically generated"/>
          <p:cNvSpPr/>
          <p:nvPr/>
        </p:nvSpPr>
        <p:spPr>
          <a:xfrm>
            <a:off x="851535" y="9291162"/>
            <a:ext cx="3983352" cy="995838"/>
          </a:xfrm>
          <a:custGeom>
            <a:avLst/>
            <a:gdLst/>
            <a:ahLst/>
            <a:cxnLst/>
            <a:rect l="l" t="t" r="r" b="b"/>
            <a:pathLst>
              <a:path w="3983352" h="995838">
                <a:moveTo>
                  <a:pt x="0" y="0"/>
                </a:moveTo>
                <a:lnTo>
                  <a:pt x="3983352" y="0"/>
                </a:lnTo>
                <a:lnTo>
                  <a:pt x="3983352" y="995838"/>
                </a:lnTo>
                <a:lnTo>
                  <a:pt x="0" y="995838"/>
                </a:lnTo>
                <a:lnTo>
                  <a:pt x="0" y="0"/>
                </a:lnTo>
                <a:close/>
              </a:path>
            </a:pathLst>
          </a:custGeom>
          <a:blipFill>
            <a:blip r:embed="rId5"/>
            <a:stretch>
              <a:fillRect/>
            </a:stretch>
          </a:blipFill>
        </p:spPr>
      </p:sp>
      <p:sp>
        <p:nvSpPr>
          <p:cNvPr id="6" name="TextBox 6"/>
          <p:cNvSpPr txBox="1"/>
          <p:nvPr/>
        </p:nvSpPr>
        <p:spPr>
          <a:xfrm>
            <a:off x="6324600" y="-28575"/>
            <a:ext cx="6210347" cy="755016"/>
          </a:xfrm>
          <a:prstGeom prst="rect">
            <a:avLst/>
          </a:prstGeom>
        </p:spPr>
        <p:txBody>
          <a:bodyPr wrap="square" lIns="0" tIns="0" rIns="0" bIns="0" rtlCol="0" anchor="t">
            <a:spAutoFit/>
          </a:bodyPr>
          <a:lstStyle/>
          <a:p>
            <a:pPr algn="ctr">
              <a:lnSpc>
                <a:spcPts val="6159"/>
              </a:lnSpc>
              <a:spcBef>
                <a:spcPct val="0"/>
              </a:spcBef>
            </a:pPr>
            <a:r>
              <a:rPr lang="en-US" sz="4399" b="1" i="1" u="sng" dirty="0">
                <a:solidFill>
                  <a:srgbClr val="000000"/>
                </a:solidFill>
                <a:latin typeface="Canva Sans Bold Italics"/>
                <a:ea typeface="Canva Sans Bold Italics"/>
                <a:cs typeface="Canva Sans Bold Italics"/>
                <a:sym typeface="Canva Sans Bold Italics"/>
              </a:rPr>
              <a:t>Training the Model</a:t>
            </a:r>
          </a:p>
        </p:txBody>
      </p:sp>
      <p:sp>
        <p:nvSpPr>
          <p:cNvPr id="8" name="TextBox 8"/>
          <p:cNvSpPr txBox="1"/>
          <p:nvPr/>
        </p:nvSpPr>
        <p:spPr>
          <a:xfrm>
            <a:off x="3810000" y="647268"/>
            <a:ext cx="10943234" cy="443006"/>
          </a:xfrm>
          <a:prstGeom prst="rect">
            <a:avLst/>
          </a:prstGeom>
        </p:spPr>
        <p:txBody>
          <a:bodyPr wrap="square" lIns="0" tIns="0" rIns="0" bIns="0" rtlCol="0" anchor="t">
            <a:spAutoFit/>
          </a:bodyPr>
          <a:lstStyle/>
          <a:p>
            <a:pPr>
              <a:lnSpc>
                <a:spcPts val="3686"/>
              </a:lnSpc>
              <a:spcBef>
                <a:spcPct val="0"/>
              </a:spcBef>
            </a:pPr>
            <a:r>
              <a:rPr lang="en-US" sz="2633" b="1" i="1" dirty="0">
                <a:solidFill>
                  <a:srgbClr val="000000"/>
                </a:solidFill>
                <a:latin typeface="Canva Sans Bold Italics"/>
                <a:ea typeface="Canva Sans Bold Italics"/>
                <a:cs typeface="Canva Sans Bold Italics"/>
                <a:sym typeface="Canva Sans Bold Italics"/>
              </a:rPr>
              <a:t>Stacked LSTM (Long Short-Term Memory) Model Training:</a:t>
            </a:r>
          </a:p>
        </p:txBody>
      </p:sp>
      <p:sp>
        <p:nvSpPr>
          <p:cNvPr id="9" name="TextBox 9"/>
          <p:cNvSpPr txBox="1"/>
          <p:nvPr/>
        </p:nvSpPr>
        <p:spPr>
          <a:xfrm>
            <a:off x="1362629" y="986671"/>
            <a:ext cx="16413123" cy="8802410"/>
          </a:xfrm>
          <a:prstGeom prst="rect">
            <a:avLst/>
          </a:prstGeom>
        </p:spPr>
        <p:txBody>
          <a:bodyPr wrap="square" lIns="0" tIns="0" rIns="0" bIns="0" rtlCol="0" anchor="t">
            <a:spAutoFit/>
          </a:bodyPr>
          <a:lstStyle/>
          <a:p>
            <a:pPr>
              <a:buFont typeface="Arial" panose="020B0604020202020204" pitchFamily="34" charset="0"/>
              <a:buChar char="•"/>
            </a:pPr>
            <a:r>
              <a:rPr lang="en-US" sz="2200" b="1" dirty="0"/>
              <a:t>Dataset Preparation:</a:t>
            </a:r>
            <a:br>
              <a:rPr lang="en-US" sz="2200" dirty="0"/>
            </a:br>
            <a:r>
              <a:rPr lang="en-US" sz="2200" dirty="0"/>
              <a:t>Historical stock price data (e.g., AAPL, MSFT, GOOGL) is used. The model is trained to predict the next day's closing price using sequences of the past 60 days' closing prices..</a:t>
            </a:r>
          </a:p>
          <a:p>
            <a:pPr>
              <a:buFont typeface="Arial" panose="020B0604020202020204" pitchFamily="34" charset="0"/>
              <a:buChar char="•"/>
            </a:pPr>
            <a:r>
              <a:rPr lang="en-US" sz="2200" b="1" dirty="0"/>
              <a:t>Architecture:</a:t>
            </a:r>
            <a:br>
              <a:rPr lang="en-US" sz="2200" dirty="0"/>
            </a:br>
            <a:r>
              <a:rPr lang="en-US" sz="2200" dirty="0"/>
              <a:t>A stacked LSTM model consisting of two LSTM layers (each with 50 units), followed by a Dense layer (25 units) and a final Dense output layer for regression.</a:t>
            </a:r>
          </a:p>
          <a:p>
            <a:pPr>
              <a:buFont typeface="Arial" panose="020B0604020202020204" pitchFamily="34" charset="0"/>
              <a:buChar char="•"/>
            </a:pPr>
            <a:r>
              <a:rPr lang="en-US" sz="2200" b="1" dirty="0"/>
              <a:t>Training Process:</a:t>
            </a:r>
            <a:br>
              <a:rPr lang="en-US" sz="2200" dirty="0"/>
            </a:br>
            <a:r>
              <a:rPr lang="en-US" sz="2200" dirty="0"/>
              <a:t>Mini-batch training using time-series data created via the </a:t>
            </a:r>
            <a:r>
              <a:rPr lang="en-US" sz="2200" b="1" dirty="0"/>
              <a:t>sliding window technique</a:t>
            </a:r>
            <a:r>
              <a:rPr lang="en-US" sz="2200" dirty="0"/>
              <a:t> to ensure sequential integrity.</a:t>
            </a:r>
          </a:p>
          <a:p>
            <a:pPr>
              <a:buFont typeface="Arial" panose="020B0604020202020204" pitchFamily="34" charset="0"/>
              <a:buChar char="•"/>
            </a:pPr>
            <a:r>
              <a:rPr lang="en-US" sz="2200" b="1" dirty="0"/>
              <a:t>Hyperparameters:</a:t>
            </a:r>
            <a:endParaRPr lang="en-US" sz="2200" dirty="0"/>
          </a:p>
          <a:p>
            <a:pPr marL="742950" lvl="1" indent="-285750">
              <a:buFont typeface="Arial" panose="020B0604020202020204" pitchFamily="34" charset="0"/>
              <a:buChar char="•"/>
            </a:pPr>
            <a:r>
              <a:rPr lang="en-US" sz="2200" dirty="0"/>
              <a:t>Batch size: 32</a:t>
            </a:r>
          </a:p>
          <a:p>
            <a:pPr marL="742950" lvl="1" indent="-285750">
              <a:buFont typeface="Arial" panose="020B0604020202020204" pitchFamily="34" charset="0"/>
              <a:buChar char="•"/>
            </a:pPr>
            <a:r>
              <a:rPr lang="en-US" sz="2200" dirty="0"/>
              <a:t>Epochs: 20</a:t>
            </a:r>
          </a:p>
          <a:p>
            <a:pPr marL="742950" lvl="1" indent="-285750">
              <a:buFont typeface="Arial" panose="020B0604020202020204" pitchFamily="34" charset="0"/>
              <a:buChar char="•"/>
            </a:pPr>
            <a:r>
              <a:rPr lang="en-US" sz="2200" dirty="0"/>
              <a:t>Loss function: Mean Squared Error (MSE)</a:t>
            </a:r>
          </a:p>
          <a:p>
            <a:pPr marL="742950" lvl="1" indent="-285750">
              <a:buFont typeface="Arial" panose="020B0604020202020204" pitchFamily="34" charset="0"/>
              <a:buChar char="•"/>
            </a:pPr>
            <a:r>
              <a:rPr lang="en-US" sz="2200" dirty="0"/>
              <a:t>Optimizer: Adam</a:t>
            </a:r>
          </a:p>
          <a:p>
            <a:pPr>
              <a:buFont typeface="Arial" panose="020B0604020202020204" pitchFamily="34" charset="0"/>
              <a:buChar char="•"/>
            </a:pPr>
            <a:r>
              <a:rPr lang="en-US" sz="2200" b="1" dirty="0"/>
              <a:t>Preprocessing:</a:t>
            </a:r>
            <a:endParaRPr lang="en-US" sz="2200" dirty="0"/>
          </a:p>
          <a:p>
            <a:pPr marL="742950" lvl="1" indent="-285750">
              <a:buFont typeface="Arial" panose="020B0604020202020204" pitchFamily="34" charset="0"/>
              <a:buChar char="•"/>
            </a:pPr>
            <a:r>
              <a:rPr lang="en-US" sz="2200" dirty="0"/>
              <a:t>Normalization using </a:t>
            </a:r>
            <a:r>
              <a:rPr lang="en-US" sz="2200" b="1" dirty="0" err="1"/>
              <a:t>MinMaxScaler</a:t>
            </a:r>
            <a:endParaRPr lang="en-US" sz="2200" dirty="0"/>
          </a:p>
          <a:p>
            <a:pPr marL="742950" lvl="1" indent="-285750">
              <a:buFont typeface="Arial" panose="020B0604020202020204" pitchFamily="34" charset="0"/>
              <a:buChar char="•"/>
            </a:pPr>
            <a:r>
              <a:rPr lang="en-US" sz="2200" dirty="0"/>
              <a:t>Time series into supervised learning format using 60-day look-back window.</a:t>
            </a:r>
          </a:p>
          <a:p>
            <a:pPr>
              <a:buFont typeface="Arial" panose="020B0604020202020204" pitchFamily="34" charset="0"/>
              <a:buChar char="•"/>
            </a:pPr>
            <a:r>
              <a:rPr lang="en-US" sz="2200" b="1" dirty="0"/>
              <a:t>Regularization Techniques:</a:t>
            </a:r>
            <a:endParaRPr lang="en-US" sz="2200" dirty="0"/>
          </a:p>
          <a:p>
            <a:pPr marL="742950" lvl="1" indent="-285750">
              <a:buFont typeface="Arial" panose="020B0604020202020204" pitchFamily="34" charset="0"/>
              <a:buChar char="•"/>
            </a:pPr>
            <a:r>
              <a:rPr lang="en-US" sz="2200" dirty="0"/>
              <a:t>Dropout (rate: 0.2) added after each LSTM layer to reduce overfitting and enhance generalization.</a:t>
            </a:r>
          </a:p>
          <a:p>
            <a:pPr>
              <a:buFont typeface="Arial" panose="020B0604020202020204" pitchFamily="34" charset="0"/>
              <a:buChar char="•"/>
            </a:pPr>
            <a:r>
              <a:rPr lang="en-US" sz="2200" b="1" dirty="0"/>
              <a:t>Training Time:</a:t>
            </a:r>
            <a:br>
              <a:rPr lang="en-US" sz="2200" dirty="0"/>
            </a:br>
            <a:r>
              <a:rPr lang="en-US" sz="2200" dirty="0"/>
              <a:t>Approximately 5–15 minutes on CPU; significantly faster on GPU depending on system and dataset size.</a:t>
            </a:r>
          </a:p>
          <a:p>
            <a:pPr>
              <a:buFont typeface="Arial" panose="020B0604020202020204" pitchFamily="34" charset="0"/>
              <a:buChar char="•"/>
            </a:pPr>
            <a:r>
              <a:rPr lang="en-US" sz="2200" b="1" dirty="0"/>
              <a:t>Validation Strategy:</a:t>
            </a:r>
            <a:br>
              <a:rPr lang="en-US" sz="2200" dirty="0"/>
            </a:br>
            <a:r>
              <a:rPr lang="en-US" sz="2200" dirty="0"/>
              <a:t>80/20 time-based split: the first 80% of data is used for training, and the remaining 20% for testing. No shuffling is applied to preserve time dependency.</a:t>
            </a:r>
          </a:p>
          <a:p>
            <a:pPr>
              <a:buFont typeface="Arial" panose="020B0604020202020204" pitchFamily="34" charset="0"/>
              <a:buChar char="•"/>
            </a:pPr>
            <a:r>
              <a:rPr lang="en-US" sz="2200" b="1" dirty="0"/>
              <a:t>Performance Metrics:</a:t>
            </a:r>
            <a:br>
              <a:rPr lang="en-US" sz="2200" dirty="0"/>
            </a:br>
            <a:r>
              <a:rPr lang="en-US" sz="2200" dirty="0"/>
              <a:t>Evaluation based on </a:t>
            </a:r>
            <a:r>
              <a:rPr lang="en-US" sz="2200" b="1" dirty="0"/>
              <a:t>Mean Squared Error (MSE)</a:t>
            </a:r>
            <a:r>
              <a:rPr lang="en-US" sz="2200" dirty="0"/>
              <a:t> and </a:t>
            </a:r>
            <a:r>
              <a:rPr lang="en-US" sz="2200" b="1" dirty="0"/>
              <a:t>Root Mean Squared Error (RMSE)</a:t>
            </a:r>
            <a:r>
              <a:rPr lang="en-US" sz="2200" dirty="0"/>
              <a:t> between predicted and actual closing prices</a:t>
            </a:r>
          </a:p>
          <a:p>
            <a:pPr>
              <a:buFont typeface="Arial" panose="020B0604020202020204" pitchFamily="34" charset="0"/>
              <a:buChar char="•"/>
            </a:pPr>
            <a:endParaRPr lang="en-US"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08" y="3328"/>
            <a:ext cx="850437" cy="10283672"/>
          </a:xfrm>
          <a:custGeom>
            <a:avLst/>
            <a:gdLst/>
            <a:ahLst/>
            <a:cxnLst/>
            <a:rect l="l" t="t" r="r" b="b"/>
            <a:pathLst>
              <a:path w="850437" h="10283672">
                <a:moveTo>
                  <a:pt x="0" y="0"/>
                </a:moveTo>
                <a:lnTo>
                  <a:pt x="850436" y="0"/>
                </a:lnTo>
                <a:lnTo>
                  <a:pt x="850436" y="10283672"/>
                </a:lnTo>
                <a:lnTo>
                  <a:pt x="0" y="10283672"/>
                </a:lnTo>
                <a:lnTo>
                  <a:pt x="0" y="0"/>
                </a:lnTo>
                <a:close/>
              </a:path>
            </a:pathLst>
          </a:custGeom>
          <a:blipFill>
            <a:blip r:embed="rId2"/>
            <a:stretch>
              <a:fillRect l="-63364" r="-63364"/>
            </a:stretch>
          </a:blipFill>
        </p:spPr>
      </p:sp>
      <p:sp>
        <p:nvSpPr>
          <p:cNvPr id="3" name="Freeform 3"/>
          <p:cNvSpPr/>
          <p:nvPr/>
        </p:nvSpPr>
        <p:spPr>
          <a:xfrm>
            <a:off x="851344" y="0"/>
            <a:ext cx="314516" cy="8161020"/>
          </a:xfrm>
          <a:custGeom>
            <a:avLst/>
            <a:gdLst/>
            <a:ahLst/>
            <a:cxnLst/>
            <a:rect l="l" t="t" r="r" b="b"/>
            <a:pathLst>
              <a:path w="314516" h="8161020">
                <a:moveTo>
                  <a:pt x="0" y="0"/>
                </a:moveTo>
                <a:lnTo>
                  <a:pt x="314516" y="0"/>
                </a:lnTo>
                <a:lnTo>
                  <a:pt x="314516" y="8161020"/>
                </a:lnTo>
                <a:lnTo>
                  <a:pt x="0" y="8161020"/>
                </a:lnTo>
                <a:lnTo>
                  <a:pt x="0" y="0"/>
                </a:lnTo>
                <a:close/>
              </a:path>
            </a:pathLst>
          </a:custGeom>
          <a:blipFill>
            <a:blip r:embed="rId3"/>
            <a:stretch>
              <a:fillRect l="-57941" r="-57941"/>
            </a:stretch>
          </a:blipFill>
        </p:spPr>
      </p:sp>
      <p:sp>
        <p:nvSpPr>
          <p:cNvPr id="4" name="Freeform 4" descr="A close up of a sign  Description automatically generated"/>
          <p:cNvSpPr/>
          <p:nvPr/>
        </p:nvSpPr>
        <p:spPr>
          <a:xfrm>
            <a:off x="16472728" y="9176862"/>
            <a:ext cx="1303024" cy="971230"/>
          </a:xfrm>
          <a:custGeom>
            <a:avLst/>
            <a:gdLst/>
            <a:ahLst/>
            <a:cxnLst/>
            <a:rect l="l" t="t" r="r" b="b"/>
            <a:pathLst>
              <a:path w="1303024" h="971230">
                <a:moveTo>
                  <a:pt x="0" y="0"/>
                </a:moveTo>
                <a:lnTo>
                  <a:pt x="1303024" y="0"/>
                </a:lnTo>
                <a:lnTo>
                  <a:pt x="1303024" y="971230"/>
                </a:lnTo>
                <a:lnTo>
                  <a:pt x="0" y="971230"/>
                </a:lnTo>
                <a:lnTo>
                  <a:pt x="0" y="0"/>
                </a:lnTo>
                <a:close/>
              </a:path>
            </a:pathLst>
          </a:custGeom>
          <a:blipFill>
            <a:blip r:embed="rId4"/>
            <a:stretch>
              <a:fillRect t="-70" b="-70"/>
            </a:stretch>
          </a:blipFill>
        </p:spPr>
      </p:sp>
      <p:sp>
        <p:nvSpPr>
          <p:cNvPr id="5" name="Freeform 5" descr="A picture containing drawing  Description automatically generated"/>
          <p:cNvSpPr/>
          <p:nvPr/>
        </p:nvSpPr>
        <p:spPr>
          <a:xfrm>
            <a:off x="851535" y="9176862"/>
            <a:ext cx="3983352" cy="995838"/>
          </a:xfrm>
          <a:custGeom>
            <a:avLst/>
            <a:gdLst/>
            <a:ahLst/>
            <a:cxnLst/>
            <a:rect l="l" t="t" r="r" b="b"/>
            <a:pathLst>
              <a:path w="3983352" h="995838">
                <a:moveTo>
                  <a:pt x="0" y="0"/>
                </a:moveTo>
                <a:lnTo>
                  <a:pt x="3983352" y="0"/>
                </a:lnTo>
                <a:lnTo>
                  <a:pt x="3983352" y="995838"/>
                </a:lnTo>
                <a:lnTo>
                  <a:pt x="0" y="995838"/>
                </a:lnTo>
                <a:lnTo>
                  <a:pt x="0" y="0"/>
                </a:lnTo>
                <a:close/>
              </a:path>
            </a:pathLst>
          </a:custGeom>
          <a:blipFill>
            <a:blip r:embed="rId5"/>
            <a:stretch>
              <a:fillRect/>
            </a:stretch>
          </a:blipFill>
        </p:spPr>
      </p:sp>
      <p:sp>
        <p:nvSpPr>
          <p:cNvPr id="7" name="TextBox 7"/>
          <p:cNvSpPr txBox="1"/>
          <p:nvPr/>
        </p:nvSpPr>
        <p:spPr>
          <a:xfrm>
            <a:off x="6246110" y="81492"/>
            <a:ext cx="7287569" cy="755016"/>
          </a:xfrm>
          <a:prstGeom prst="rect">
            <a:avLst/>
          </a:prstGeom>
        </p:spPr>
        <p:txBody>
          <a:bodyPr wrap="square" lIns="0" tIns="0" rIns="0" bIns="0" rtlCol="0" anchor="t">
            <a:spAutoFit/>
          </a:bodyPr>
          <a:lstStyle/>
          <a:p>
            <a:pPr algn="ctr">
              <a:lnSpc>
                <a:spcPts val="6159"/>
              </a:lnSpc>
              <a:spcBef>
                <a:spcPct val="0"/>
              </a:spcBef>
            </a:pPr>
            <a:r>
              <a:rPr lang="en-US" sz="4399" b="1" i="1" u="sng" dirty="0">
                <a:solidFill>
                  <a:srgbClr val="000000"/>
                </a:solidFill>
                <a:latin typeface="Canva Sans Bold Italics"/>
                <a:ea typeface="Canva Sans Bold Italics"/>
                <a:cs typeface="Canva Sans Bold Italics"/>
                <a:sym typeface="Canva Sans Bold Italics"/>
              </a:rPr>
              <a:t>Evaluation and Results</a:t>
            </a:r>
          </a:p>
        </p:txBody>
      </p:sp>
      <p:sp>
        <p:nvSpPr>
          <p:cNvPr id="10" name="TextBox 10"/>
          <p:cNvSpPr txBox="1"/>
          <p:nvPr/>
        </p:nvSpPr>
        <p:spPr>
          <a:xfrm>
            <a:off x="2986094" y="1342680"/>
            <a:ext cx="11339505" cy="509883"/>
          </a:xfrm>
          <a:prstGeom prst="rect">
            <a:avLst/>
          </a:prstGeom>
        </p:spPr>
        <p:txBody>
          <a:bodyPr wrap="square" lIns="0" tIns="0" rIns="0" bIns="0" rtlCol="0" anchor="t">
            <a:spAutoFit/>
          </a:bodyPr>
          <a:lstStyle/>
          <a:p>
            <a:pPr algn="ctr">
              <a:lnSpc>
                <a:spcPts val="4246"/>
              </a:lnSpc>
              <a:spcBef>
                <a:spcPct val="0"/>
              </a:spcBef>
            </a:pPr>
            <a:r>
              <a:rPr lang="en-US" sz="3033" b="1" i="1" dirty="0">
                <a:solidFill>
                  <a:srgbClr val="000000"/>
                </a:solidFill>
                <a:latin typeface="Canva Sans Bold Italics"/>
                <a:ea typeface="Canva Sans Bold Italics"/>
                <a:cs typeface="Canva Sans Bold Italics"/>
                <a:sym typeface="Canva Sans Bold Italics"/>
              </a:rPr>
              <a:t> </a:t>
            </a:r>
            <a:r>
              <a:rPr lang="en-US" sz="3200" b="1" i="1" dirty="0">
                <a:solidFill>
                  <a:srgbClr val="000000"/>
                </a:solidFill>
                <a:latin typeface="Canva Sans Bold Italics"/>
                <a:ea typeface="Canva Sans Bold Italics"/>
                <a:cs typeface="Canva Sans Bold Italics"/>
                <a:sym typeface="Canva Sans Bold Italics"/>
              </a:rPr>
              <a:t>Stacked LSTM (Long Short-Term Memory) </a:t>
            </a:r>
            <a:r>
              <a:rPr lang="en-US" sz="3033" b="1" i="1" dirty="0">
                <a:solidFill>
                  <a:srgbClr val="000000"/>
                </a:solidFill>
                <a:latin typeface="Canva Sans Bold Italics"/>
                <a:ea typeface="Canva Sans Bold Italics"/>
                <a:cs typeface="Canva Sans Bold Italics"/>
                <a:sym typeface="Canva Sans Bold Italics"/>
              </a:rPr>
              <a:t>Model:</a:t>
            </a:r>
          </a:p>
        </p:txBody>
      </p:sp>
      <p:pic>
        <p:nvPicPr>
          <p:cNvPr id="8" name="Picture 7">
            <a:extLst>
              <a:ext uri="{FF2B5EF4-FFF2-40B4-BE49-F238E27FC236}">
                <a16:creationId xmlns:a16="http://schemas.microsoft.com/office/drawing/2014/main" id="{1BD7BDC4-8D1F-4ED4-E182-7396735E4281}"/>
              </a:ext>
            </a:extLst>
          </p:cNvPr>
          <p:cNvPicPr>
            <a:picLocks noChangeAspect="1"/>
          </p:cNvPicPr>
          <p:nvPr/>
        </p:nvPicPr>
        <p:blipFill>
          <a:blip r:embed="rId6"/>
          <a:stretch>
            <a:fillRect/>
          </a:stretch>
        </p:blipFill>
        <p:spPr>
          <a:xfrm>
            <a:off x="4495800" y="1776967"/>
            <a:ext cx="10474458" cy="837112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08" y="3328"/>
            <a:ext cx="850437" cy="10283672"/>
          </a:xfrm>
          <a:custGeom>
            <a:avLst/>
            <a:gdLst/>
            <a:ahLst/>
            <a:cxnLst/>
            <a:rect l="l" t="t" r="r" b="b"/>
            <a:pathLst>
              <a:path w="850437" h="10283672">
                <a:moveTo>
                  <a:pt x="0" y="0"/>
                </a:moveTo>
                <a:lnTo>
                  <a:pt x="850436" y="0"/>
                </a:lnTo>
                <a:lnTo>
                  <a:pt x="850436" y="10283672"/>
                </a:lnTo>
                <a:lnTo>
                  <a:pt x="0" y="10283672"/>
                </a:lnTo>
                <a:lnTo>
                  <a:pt x="0" y="0"/>
                </a:lnTo>
                <a:close/>
              </a:path>
            </a:pathLst>
          </a:custGeom>
          <a:blipFill>
            <a:blip r:embed="rId2"/>
            <a:stretch>
              <a:fillRect l="-63364" r="-63364"/>
            </a:stretch>
          </a:blipFill>
        </p:spPr>
      </p:sp>
      <p:sp>
        <p:nvSpPr>
          <p:cNvPr id="3" name="Freeform 3"/>
          <p:cNvSpPr/>
          <p:nvPr/>
        </p:nvSpPr>
        <p:spPr>
          <a:xfrm>
            <a:off x="851344" y="0"/>
            <a:ext cx="314516" cy="8161020"/>
          </a:xfrm>
          <a:custGeom>
            <a:avLst/>
            <a:gdLst/>
            <a:ahLst/>
            <a:cxnLst/>
            <a:rect l="l" t="t" r="r" b="b"/>
            <a:pathLst>
              <a:path w="314516" h="8161020">
                <a:moveTo>
                  <a:pt x="0" y="0"/>
                </a:moveTo>
                <a:lnTo>
                  <a:pt x="314516" y="0"/>
                </a:lnTo>
                <a:lnTo>
                  <a:pt x="314516" y="8161020"/>
                </a:lnTo>
                <a:lnTo>
                  <a:pt x="0" y="8161020"/>
                </a:lnTo>
                <a:lnTo>
                  <a:pt x="0" y="0"/>
                </a:lnTo>
                <a:close/>
              </a:path>
            </a:pathLst>
          </a:custGeom>
          <a:blipFill>
            <a:blip r:embed="rId3"/>
            <a:stretch>
              <a:fillRect l="-57941" r="-57941"/>
            </a:stretch>
          </a:blipFill>
        </p:spPr>
      </p:sp>
      <p:sp>
        <p:nvSpPr>
          <p:cNvPr id="4" name="Freeform 4" descr="A close up of a sign  Description automatically generated"/>
          <p:cNvSpPr/>
          <p:nvPr/>
        </p:nvSpPr>
        <p:spPr>
          <a:xfrm>
            <a:off x="16472728" y="9176862"/>
            <a:ext cx="1303024" cy="971230"/>
          </a:xfrm>
          <a:custGeom>
            <a:avLst/>
            <a:gdLst/>
            <a:ahLst/>
            <a:cxnLst/>
            <a:rect l="l" t="t" r="r" b="b"/>
            <a:pathLst>
              <a:path w="1303024" h="971230">
                <a:moveTo>
                  <a:pt x="0" y="0"/>
                </a:moveTo>
                <a:lnTo>
                  <a:pt x="1303024" y="0"/>
                </a:lnTo>
                <a:lnTo>
                  <a:pt x="1303024" y="971230"/>
                </a:lnTo>
                <a:lnTo>
                  <a:pt x="0" y="971230"/>
                </a:lnTo>
                <a:lnTo>
                  <a:pt x="0" y="0"/>
                </a:lnTo>
                <a:close/>
              </a:path>
            </a:pathLst>
          </a:custGeom>
          <a:blipFill>
            <a:blip r:embed="rId4"/>
            <a:stretch>
              <a:fillRect t="-70" b="-70"/>
            </a:stretch>
          </a:blipFill>
        </p:spPr>
      </p:sp>
      <p:sp>
        <p:nvSpPr>
          <p:cNvPr id="5" name="Freeform 5" descr="A picture containing drawing  Description automatically generated"/>
          <p:cNvSpPr/>
          <p:nvPr/>
        </p:nvSpPr>
        <p:spPr>
          <a:xfrm>
            <a:off x="851535" y="9176862"/>
            <a:ext cx="3983352" cy="995838"/>
          </a:xfrm>
          <a:custGeom>
            <a:avLst/>
            <a:gdLst/>
            <a:ahLst/>
            <a:cxnLst/>
            <a:rect l="l" t="t" r="r" b="b"/>
            <a:pathLst>
              <a:path w="3983352" h="995838">
                <a:moveTo>
                  <a:pt x="0" y="0"/>
                </a:moveTo>
                <a:lnTo>
                  <a:pt x="3983352" y="0"/>
                </a:lnTo>
                <a:lnTo>
                  <a:pt x="3983352" y="995838"/>
                </a:lnTo>
                <a:lnTo>
                  <a:pt x="0" y="995838"/>
                </a:lnTo>
                <a:lnTo>
                  <a:pt x="0" y="0"/>
                </a:lnTo>
                <a:close/>
              </a:path>
            </a:pathLst>
          </a:custGeom>
          <a:blipFill>
            <a:blip r:embed="rId5"/>
            <a:stretch>
              <a:fillRect/>
            </a:stretch>
          </a:blipFill>
        </p:spPr>
      </p:sp>
      <p:sp>
        <p:nvSpPr>
          <p:cNvPr id="6" name="TextBox 6"/>
          <p:cNvSpPr txBox="1"/>
          <p:nvPr/>
        </p:nvSpPr>
        <p:spPr>
          <a:xfrm>
            <a:off x="5610191" y="134894"/>
            <a:ext cx="7962075" cy="755016"/>
          </a:xfrm>
          <a:prstGeom prst="rect">
            <a:avLst/>
          </a:prstGeom>
        </p:spPr>
        <p:txBody>
          <a:bodyPr wrap="square" lIns="0" tIns="0" rIns="0" bIns="0" rtlCol="0" anchor="t">
            <a:spAutoFit/>
          </a:bodyPr>
          <a:lstStyle/>
          <a:p>
            <a:pPr algn="ctr">
              <a:lnSpc>
                <a:spcPts val="6159"/>
              </a:lnSpc>
              <a:spcBef>
                <a:spcPct val="0"/>
              </a:spcBef>
            </a:pPr>
            <a:r>
              <a:rPr lang="en-US" sz="4399" b="1" i="1" u="sng" dirty="0">
                <a:solidFill>
                  <a:srgbClr val="000000"/>
                </a:solidFill>
                <a:latin typeface="Canva Sans Bold Italics"/>
                <a:ea typeface="Canva Sans Bold Italics"/>
                <a:cs typeface="Canva Sans Bold Italics"/>
                <a:sym typeface="Canva Sans Bold Italics"/>
              </a:rPr>
              <a:t>Evaluation and Results</a:t>
            </a:r>
          </a:p>
        </p:txBody>
      </p:sp>
      <p:pic>
        <p:nvPicPr>
          <p:cNvPr id="12" name="Picture 11">
            <a:extLst>
              <a:ext uri="{FF2B5EF4-FFF2-40B4-BE49-F238E27FC236}">
                <a16:creationId xmlns:a16="http://schemas.microsoft.com/office/drawing/2014/main" id="{7EBA1938-23BB-2C53-5DAF-54B33E2D1ACA}"/>
              </a:ext>
            </a:extLst>
          </p:cNvPr>
          <p:cNvPicPr>
            <a:picLocks noChangeAspect="1"/>
          </p:cNvPicPr>
          <p:nvPr/>
        </p:nvPicPr>
        <p:blipFill>
          <a:blip r:embed="rId6"/>
          <a:stretch>
            <a:fillRect/>
          </a:stretch>
        </p:blipFill>
        <p:spPr>
          <a:xfrm>
            <a:off x="4038600" y="889910"/>
            <a:ext cx="11541258" cy="922370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08" y="3328"/>
            <a:ext cx="850437" cy="10283672"/>
          </a:xfrm>
          <a:custGeom>
            <a:avLst/>
            <a:gdLst/>
            <a:ahLst/>
            <a:cxnLst/>
            <a:rect l="l" t="t" r="r" b="b"/>
            <a:pathLst>
              <a:path w="850437" h="10283672">
                <a:moveTo>
                  <a:pt x="0" y="0"/>
                </a:moveTo>
                <a:lnTo>
                  <a:pt x="850436" y="0"/>
                </a:lnTo>
                <a:lnTo>
                  <a:pt x="850436" y="10283672"/>
                </a:lnTo>
                <a:lnTo>
                  <a:pt x="0" y="10283672"/>
                </a:lnTo>
                <a:lnTo>
                  <a:pt x="0" y="0"/>
                </a:lnTo>
                <a:close/>
              </a:path>
            </a:pathLst>
          </a:custGeom>
          <a:blipFill>
            <a:blip r:embed="rId2"/>
            <a:stretch>
              <a:fillRect l="-63364" r="-63364"/>
            </a:stretch>
          </a:blipFill>
        </p:spPr>
      </p:sp>
      <p:sp>
        <p:nvSpPr>
          <p:cNvPr id="3" name="Freeform 3"/>
          <p:cNvSpPr/>
          <p:nvPr/>
        </p:nvSpPr>
        <p:spPr>
          <a:xfrm>
            <a:off x="851344" y="0"/>
            <a:ext cx="314516" cy="8161020"/>
          </a:xfrm>
          <a:custGeom>
            <a:avLst/>
            <a:gdLst/>
            <a:ahLst/>
            <a:cxnLst/>
            <a:rect l="l" t="t" r="r" b="b"/>
            <a:pathLst>
              <a:path w="314516" h="8161020">
                <a:moveTo>
                  <a:pt x="0" y="0"/>
                </a:moveTo>
                <a:lnTo>
                  <a:pt x="314516" y="0"/>
                </a:lnTo>
                <a:lnTo>
                  <a:pt x="314516" y="8161020"/>
                </a:lnTo>
                <a:lnTo>
                  <a:pt x="0" y="8161020"/>
                </a:lnTo>
                <a:lnTo>
                  <a:pt x="0" y="0"/>
                </a:lnTo>
                <a:close/>
              </a:path>
            </a:pathLst>
          </a:custGeom>
          <a:blipFill>
            <a:blip r:embed="rId3"/>
            <a:stretch>
              <a:fillRect l="-57941" r="-57941"/>
            </a:stretch>
          </a:blipFill>
        </p:spPr>
      </p:sp>
      <p:sp>
        <p:nvSpPr>
          <p:cNvPr id="4" name="Freeform 4" descr="A close up of a sign  Description automatically generated"/>
          <p:cNvSpPr/>
          <p:nvPr/>
        </p:nvSpPr>
        <p:spPr>
          <a:xfrm>
            <a:off x="16472728" y="9176862"/>
            <a:ext cx="1303024" cy="971230"/>
          </a:xfrm>
          <a:custGeom>
            <a:avLst/>
            <a:gdLst/>
            <a:ahLst/>
            <a:cxnLst/>
            <a:rect l="l" t="t" r="r" b="b"/>
            <a:pathLst>
              <a:path w="1303024" h="971230">
                <a:moveTo>
                  <a:pt x="0" y="0"/>
                </a:moveTo>
                <a:lnTo>
                  <a:pt x="1303024" y="0"/>
                </a:lnTo>
                <a:lnTo>
                  <a:pt x="1303024" y="971230"/>
                </a:lnTo>
                <a:lnTo>
                  <a:pt x="0" y="971230"/>
                </a:lnTo>
                <a:lnTo>
                  <a:pt x="0" y="0"/>
                </a:lnTo>
                <a:close/>
              </a:path>
            </a:pathLst>
          </a:custGeom>
          <a:blipFill>
            <a:blip r:embed="rId4"/>
            <a:stretch>
              <a:fillRect t="-70" b="-70"/>
            </a:stretch>
          </a:blipFill>
        </p:spPr>
      </p:sp>
      <p:sp>
        <p:nvSpPr>
          <p:cNvPr id="5" name="Freeform 5" descr="A picture containing drawing  Description automatically generated"/>
          <p:cNvSpPr/>
          <p:nvPr/>
        </p:nvSpPr>
        <p:spPr>
          <a:xfrm>
            <a:off x="851535" y="9176862"/>
            <a:ext cx="3983352" cy="995838"/>
          </a:xfrm>
          <a:custGeom>
            <a:avLst/>
            <a:gdLst/>
            <a:ahLst/>
            <a:cxnLst/>
            <a:rect l="l" t="t" r="r" b="b"/>
            <a:pathLst>
              <a:path w="3983352" h="995838">
                <a:moveTo>
                  <a:pt x="0" y="0"/>
                </a:moveTo>
                <a:lnTo>
                  <a:pt x="3983352" y="0"/>
                </a:lnTo>
                <a:lnTo>
                  <a:pt x="3983352" y="995838"/>
                </a:lnTo>
                <a:lnTo>
                  <a:pt x="0" y="995838"/>
                </a:lnTo>
                <a:lnTo>
                  <a:pt x="0" y="0"/>
                </a:lnTo>
                <a:close/>
              </a:path>
            </a:pathLst>
          </a:custGeom>
          <a:blipFill>
            <a:blip r:embed="rId5"/>
            <a:stretch>
              <a:fillRect/>
            </a:stretch>
          </a:blipFill>
        </p:spPr>
      </p:sp>
      <p:sp>
        <p:nvSpPr>
          <p:cNvPr id="9" name="TextBox 9"/>
          <p:cNvSpPr txBox="1"/>
          <p:nvPr/>
        </p:nvSpPr>
        <p:spPr>
          <a:xfrm>
            <a:off x="6043749" y="110067"/>
            <a:ext cx="7352475" cy="755016"/>
          </a:xfrm>
          <a:prstGeom prst="rect">
            <a:avLst/>
          </a:prstGeom>
        </p:spPr>
        <p:txBody>
          <a:bodyPr wrap="square" lIns="0" tIns="0" rIns="0" bIns="0" rtlCol="0" anchor="t">
            <a:spAutoFit/>
          </a:bodyPr>
          <a:lstStyle/>
          <a:p>
            <a:pPr algn="ctr">
              <a:lnSpc>
                <a:spcPts val="6159"/>
              </a:lnSpc>
              <a:spcBef>
                <a:spcPct val="0"/>
              </a:spcBef>
            </a:pPr>
            <a:r>
              <a:rPr lang="en-US" sz="4399" b="1" i="1" u="sng" dirty="0">
                <a:solidFill>
                  <a:srgbClr val="000000"/>
                </a:solidFill>
                <a:latin typeface="Canva Sans Bold Italics"/>
                <a:ea typeface="Canva Sans Bold Italics"/>
                <a:cs typeface="Canva Sans Bold Italics"/>
                <a:sym typeface="Canva Sans Bold Italics"/>
              </a:rPr>
              <a:t>Evaluation and Results</a:t>
            </a:r>
          </a:p>
        </p:txBody>
      </p:sp>
      <p:pic>
        <p:nvPicPr>
          <p:cNvPr id="12" name="Picture 11">
            <a:extLst>
              <a:ext uri="{FF2B5EF4-FFF2-40B4-BE49-F238E27FC236}">
                <a16:creationId xmlns:a16="http://schemas.microsoft.com/office/drawing/2014/main" id="{ACC4E7B7-8C2D-9236-B322-787B81BE2341}"/>
              </a:ext>
            </a:extLst>
          </p:cNvPr>
          <p:cNvPicPr>
            <a:picLocks noChangeAspect="1"/>
          </p:cNvPicPr>
          <p:nvPr/>
        </p:nvPicPr>
        <p:blipFill>
          <a:blip r:embed="rId6"/>
          <a:stretch>
            <a:fillRect/>
          </a:stretch>
        </p:blipFill>
        <p:spPr>
          <a:xfrm>
            <a:off x="4038600" y="924387"/>
            <a:ext cx="11541258" cy="922370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08" y="3328"/>
            <a:ext cx="850437" cy="10283672"/>
          </a:xfrm>
          <a:custGeom>
            <a:avLst/>
            <a:gdLst/>
            <a:ahLst/>
            <a:cxnLst/>
            <a:rect l="l" t="t" r="r" b="b"/>
            <a:pathLst>
              <a:path w="850437" h="10283672">
                <a:moveTo>
                  <a:pt x="0" y="0"/>
                </a:moveTo>
                <a:lnTo>
                  <a:pt x="850436" y="0"/>
                </a:lnTo>
                <a:lnTo>
                  <a:pt x="850436" y="10283672"/>
                </a:lnTo>
                <a:lnTo>
                  <a:pt x="0" y="10283672"/>
                </a:lnTo>
                <a:lnTo>
                  <a:pt x="0" y="0"/>
                </a:lnTo>
                <a:close/>
              </a:path>
            </a:pathLst>
          </a:custGeom>
          <a:blipFill>
            <a:blip r:embed="rId2"/>
            <a:stretch>
              <a:fillRect l="-63364" r="-63364"/>
            </a:stretch>
          </a:blipFill>
        </p:spPr>
      </p:sp>
      <p:sp>
        <p:nvSpPr>
          <p:cNvPr id="3" name="Freeform 3"/>
          <p:cNvSpPr/>
          <p:nvPr/>
        </p:nvSpPr>
        <p:spPr>
          <a:xfrm>
            <a:off x="851344" y="0"/>
            <a:ext cx="314516" cy="8161020"/>
          </a:xfrm>
          <a:custGeom>
            <a:avLst/>
            <a:gdLst/>
            <a:ahLst/>
            <a:cxnLst/>
            <a:rect l="l" t="t" r="r" b="b"/>
            <a:pathLst>
              <a:path w="314516" h="8161020">
                <a:moveTo>
                  <a:pt x="0" y="0"/>
                </a:moveTo>
                <a:lnTo>
                  <a:pt x="314516" y="0"/>
                </a:lnTo>
                <a:lnTo>
                  <a:pt x="314516" y="8161020"/>
                </a:lnTo>
                <a:lnTo>
                  <a:pt x="0" y="8161020"/>
                </a:lnTo>
                <a:lnTo>
                  <a:pt x="0" y="0"/>
                </a:lnTo>
                <a:close/>
              </a:path>
            </a:pathLst>
          </a:custGeom>
          <a:blipFill>
            <a:blip r:embed="rId3"/>
            <a:stretch>
              <a:fillRect l="-57941" r="-57941"/>
            </a:stretch>
          </a:blipFill>
        </p:spPr>
      </p:sp>
      <p:sp>
        <p:nvSpPr>
          <p:cNvPr id="4" name="Freeform 4" descr="A close up of a sign  Description automatically generated"/>
          <p:cNvSpPr/>
          <p:nvPr/>
        </p:nvSpPr>
        <p:spPr>
          <a:xfrm>
            <a:off x="16472728" y="9176862"/>
            <a:ext cx="1303024" cy="971230"/>
          </a:xfrm>
          <a:custGeom>
            <a:avLst/>
            <a:gdLst/>
            <a:ahLst/>
            <a:cxnLst/>
            <a:rect l="l" t="t" r="r" b="b"/>
            <a:pathLst>
              <a:path w="1303024" h="971230">
                <a:moveTo>
                  <a:pt x="0" y="0"/>
                </a:moveTo>
                <a:lnTo>
                  <a:pt x="1303024" y="0"/>
                </a:lnTo>
                <a:lnTo>
                  <a:pt x="1303024" y="971230"/>
                </a:lnTo>
                <a:lnTo>
                  <a:pt x="0" y="971230"/>
                </a:lnTo>
                <a:lnTo>
                  <a:pt x="0" y="0"/>
                </a:lnTo>
                <a:close/>
              </a:path>
            </a:pathLst>
          </a:custGeom>
          <a:blipFill>
            <a:blip r:embed="rId4"/>
            <a:stretch>
              <a:fillRect t="-70" b="-70"/>
            </a:stretch>
          </a:blipFill>
        </p:spPr>
      </p:sp>
      <p:sp>
        <p:nvSpPr>
          <p:cNvPr id="5" name="Freeform 5" descr="A picture containing drawing  Description automatically generated"/>
          <p:cNvSpPr/>
          <p:nvPr/>
        </p:nvSpPr>
        <p:spPr>
          <a:xfrm>
            <a:off x="851535" y="9176862"/>
            <a:ext cx="3983352" cy="995838"/>
          </a:xfrm>
          <a:custGeom>
            <a:avLst/>
            <a:gdLst/>
            <a:ahLst/>
            <a:cxnLst/>
            <a:rect l="l" t="t" r="r" b="b"/>
            <a:pathLst>
              <a:path w="3983352" h="995838">
                <a:moveTo>
                  <a:pt x="0" y="0"/>
                </a:moveTo>
                <a:lnTo>
                  <a:pt x="3983352" y="0"/>
                </a:lnTo>
                <a:lnTo>
                  <a:pt x="3983352" y="995838"/>
                </a:lnTo>
                <a:lnTo>
                  <a:pt x="0" y="995838"/>
                </a:lnTo>
                <a:lnTo>
                  <a:pt x="0" y="0"/>
                </a:lnTo>
                <a:close/>
              </a:path>
            </a:pathLst>
          </a:custGeom>
          <a:blipFill>
            <a:blip r:embed="rId5"/>
            <a:stretch>
              <a:fillRect/>
            </a:stretch>
          </a:blipFill>
        </p:spPr>
      </p:sp>
      <p:sp>
        <p:nvSpPr>
          <p:cNvPr id="9" name="TextBox 9"/>
          <p:cNvSpPr txBox="1"/>
          <p:nvPr/>
        </p:nvSpPr>
        <p:spPr>
          <a:xfrm>
            <a:off x="5824430" y="138124"/>
            <a:ext cx="7352475" cy="755016"/>
          </a:xfrm>
          <a:prstGeom prst="rect">
            <a:avLst/>
          </a:prstGeom>
        </p:spPr>
        <p:txBody>
          <a:bodyPr wrap="square" lIns="0" tIns="0" rIns="0" bIns="0" rtlCol="0" anchor="t">
            <a:spAutoFit/>
          </a:bodyPr>
          <a:lstStyle/>
          <a:p>
            <a:pPr algn="ctr">
              <a:lnSpc>
                <a:spcPts val="6159"/>
              </a:lnSpc>
              <a:spcBef>
                <a:spcPct val="0"/>
              </a:spcBef>
            </a:pPr>
            <a:r>
              <a:rPr lang="en-US" sz="4399" b="1" i="1" u="sng" dirty="0">
                <a:solidFill>
                  <a:srgbClr val="000000"/>
                </a:solidFill>
                <a:latin typeface="Canva Sans Bold Italics"/>
                <a:ea typeface="Canva Sans Bold Italics"/>
                <a:cs typeface="Canva Sans Bold Italics"/>
                <a:sym typeface="Canva Sans Bold Italics"/>
              </a:rPr>
              <a:t>Evaluation and Results</a:t>
            </a:r>
          </a:p>
        </p:txBody>
      </p:sp>
      <p:pic>
        <p:nvPicPr>
          <p:cNvPr id="12" name="Picture 11">
            <a:extLst>
              <a:ext uri="{FF2B5EF4-FFF2-40B4-BE49-F238E27FC236}">
                <a16:creationId xmlns:a16="http://schemas.microsoft.com/office/drawing/2014/main" id="{2C82DFB1-A5EA-1A83-39BE-0D86F8FFB679}"/>
              </a:ext>
            </a:extLst>
          </p:cNvPr>
          <p:cNvPicPr>
            <a:picLocks noChangeAspect="1"/>
          </p:cNvPicPr>
          <p:nvPr/>
        </p:nvPicPr>
        <p:blipFill>
          <a:blip r:embed="rId6"/>
          <a:stretch>
            <a:fillRect/>
          </a:stretch>
        </p:blipFill>
        <p:spPr>
          <a:xfrm>
            <a:off x="3653838" y="840690"/>
            <a:ext cx="11693658" cy="934550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08" y="3328"/>
            <a:ext cx="850437" cy="10283672"/>
          </a:xfrm>
          <a:custGeom>
            <a:avLst/>
            <a:gdLst/>
            <a:ahLst/>
            <a:cxnLst/>
            <a:rect l="l" t="t" r="r" b="b"/>
            <a:pathLst>
              <a:path w="850437" h="10283672">
                <a:moveTo>
                  <a:pt x="0" y="0"/>
                </a:moveTo>
                <a:lnTo>
                  <a:pt x="850436" y="0"/>
                </a:lnTo>
                <a:lnTo>
                  <a:pt x="850436" y="10283672"/>
                </a:lnTo>
                <a:lnTo>
                  <a:pt x="0" y="10283672"/>
                </a:lnTo>
                <a:lnTo>
                  <a:pt x="0" y="0"/>
                </a:lnTo>
                <a:close/>
              </a:path>
            </a:pathLst>
          </a:custGeom>
          <a:blipFill>
            <a:blip r:embed="rId2"/>
            <a:stretch>
              <a:fillRect l="-63364" r="-63364"/>
            </a:stretch>
          </a:blipFill>
        </p:spPr>
      </p:sp>
      <p:sp>
        <p:nvSpPr>
          <p:cNvPr id="3" name="Freeform 3"/>
          <p:cNvSpPr/>
          <p:nvPr/>
        </p:nvSpPr>
        <p:spPr>
          <a:xfrm>
            <a:off x="851344" y="0"/>
            <a:ext cx="314516" cy="8161020"/>
          </a:xfrm>
          <a:custGeom>
            <a:avLst/>
            <a:gdLst/>
            <a:ahLst/>
            <a:cxnLst/>
            <a:rect l="l" t="t" r="r" b="b"/>
            <a:pathLst>
              <a:path w="314516" h="8161020">
                <a:moveTo>
                  <a:pt x="0" y="0"/>
                </a:moveTo>
                <a:lnTo>
                  <a:pt x="314516" y="0"/>
                </a:lnTo>
                <a:lnTo>
                  <a:pt x="314516" y="8161020"/>
                </a:lnTo>
                <a:lnTo>
                  <a:pt x="0" y="8161020"/>
                </a:lnTo>
                <a:lnTo>
                  <a:pt x="0" y="0"/>
                </a:lnTo>
                <a:close/>
              </a:path>
            </a:pathLst>
          </a:custGeom>
          <a:blipFill>
            <a:blip r:embed="rId3"/>
            <a:stretch>
              <a:fillRect l="-57941" r="-57941"/>
            </a:stretch>
          </a:blipFill>
        </p:spPr>
      </p:sp>
      <p:sp>
        <p:nvSpPr>
          <p:cNvPr id="4" name="Freeform 4" descr="A close up of a sign  Description automatically generated"/>
          <p:cNvSpPr/>
          <p:nvPr/>
        </p:nvSpPr>
        <p:spPr>
          <a:xfrm>
            <a:off x="16607788" y="9236631"/>
            <a:ext cx="1303024" cy="971231"/>
          </a:xfrm>
          <a:custGeom>
            <a:avLst/>
            <a:gdLst/>
            <a:ahLst/>
            <a:cxnLst/>
            <a:rect l="l" t="t" r="r" b="b"/>
            <a:pathLst>
              <a:path w="1303024" h="971231">
                <a:moveTo>
                  <a:pt x="0" y="0"/>
                </a:moveTo>
                <a:lnTo>
                  <a:pt x="1303024" y="0"/>
                </a:lnTo>
                <a:lnTo>
                  <a:pt x="1303024" y="971230"/>
                </a:lnTo>
                <a:lnTo>
                  <a:pt x="0" y="971230"/>
                </a:lnTo>
                <a:lnTo>
                  <a:pt x="0" y="0"/>
                </a:lnTo>
                <a:close/>
              </a:path>
            </a:pathLst>
          </a:custGeom>
          <a:blipFill>
            <a:blip r:embed="rId4"/>
            <a:stretch>
              <a:fillRect t="-70" b="-70"/>
            </a:stretch>
          </a:blipFill>
        </p:spPr>
      </p:sp>
      <p:sp>
        <p:nvSpPr>
          <p:cNvPr id="5" name="Freeform 5" descr="A picture containing drawing  Description automatically generated"/>
          <p:cNvSpPr/>
          <p:nvPr/>
        </p:nvSpPr>
        <p:spPr>
          <a:xfrm>
            <a:off x="851535" y="9176862"/>
            <a:ext cx="3983352" cy="995838"/>
          </a:xfrm>
          <a:custGeom>
            <a:avLst/>
            <a:gdLst/>
            <a:ahLst/>
            <a:cxnLst/>
            <a:rect l="l" t="t" r="r" b="b"/>
            <a:pathLst>
              <a:path w="3983352" h="995838">
                <a:moveTo>
                  <a:pt x="0" y="0"/>
                </a:moveTo>
                <a:lnTo>
                  <a:pt x="3983352" y="0"/>
                </a:lnTo>
                <a:lnTo>
                  <a:pt x="3983352" y="995838"/>
                </a:lnTo>
                <a:lnTo>
                  <a:pt x="0" y="995838"/>
                </a:lnTo>
                <a:lnTo>
                  <a:pt x="0" y="0"/>
                </a:lnTo>
                <a:close/>
              </a:path>
            </a:pathLst>
          </a:custGeom>
          <a:blipFill>
            <a:blip r:embed="rId5"/>
            <a:stretch>
              <a:fillRect/>
            </a:stretch>
          </a:blipFill>
        </p:spPr>
      </p:sp>
      <p:sp>
        <p:nvSpPr>
          <p:cNvPr id="6" name="TextBox 6"/>
          <p:cNvSpPr txBox="1"/>
          <p:nvPr/>
        </p:nvSpPr>
        <p:spPr>
          <a:xfrm>
            <a:off x="6665363" y="50699"/>
            <a:ext cx="5960780" cy="755016"/>
          </a:xfrm>
          <a:prstGeom prst="rect">
            <a:avLst/>
          </a:prstGeom>
        </p:spPr>
        <p:txBody>
          <a:bodyPr wrap="square" lIns="0" tIns="0" rIns="0" bIns="0" rtlCol="0" anchor="t">
            <a:spAutoFit/>
          </a:bodyPr>
          <a:lstStyle/>
          <a:p>
            <a:pPr algn="ctr">
              <a:lnSpc>
                <a:spcPts val="6159"/>
              </a:lnSpc>
              <a:spcBef>
                <a:spcPct val="0"/>
              </a:spcBef>
            </a:pPr>
            <a:r>
              <a:rPr lang="en-US" sz="4399" b="1" i="1" u="sng" dirty="0">
                <a:solidFill>
                  <a:srgbClr val="000000"/>
                </a:solidFill>
                <a:latin typeface="Canva Sans Bold Italics"/>
                <a:ea typeface="Canva Sans Bold Italics"/>
                <a:cs typeface="Canva Sans Bold Italics"/>
                <a:sym typeface="Canva Sans Bold Italics"/>
              </a:rPr>
              <a:t>Challenges Faced</a:t>
            </a:r>
          </a:p>
        </p:txBody>
      </p:sp>
      <p:sp>
        <p:nvSpPr>
          <p:cNvPr id="8" name="TextBox 8"/>
          <p:cNvSpPr txBox="1"/>
          <p:nvPr/>
        </p:nvSpPr>
        <p:spPr>
          <a:xfrm>
            <a:off x="2239366" y="1068138"/>
            <a:ext cx="10867034" cy="509883"/>
          </a:xfrm>
          <a:prstGeom prst="rect">
            <a:avLst/>
          </a:prstGeom>
        </p:spPr>
        <p:txBody>
          <a:bodyPr wrap="square" lIns="0" tIns="0" rIns="0" bIns="0" rtlCol="0" anchor="t">
            <a:spAutoFit/>
          </a:bodyPr>
          <a:lstStyle/>
          <a:p>
            <a:pPr algn="ctr">
              <a:lnSpc>
                <a:spcPts val="4246"/>
              </a:lnSpc>
              <a:spcBef>
                <a:spcPct val="0"/>
              </a:spcBef>
            </a:pPr>
            <a:r>
              <a:rPr lang="en-US" sz="3033" b="1" dirty="0">
                <a:solidFill>
                  <a:srgbClr val="000000"/>
                </a:solidFill>
                <a:latin typeface="Canva Sans Bold"/>
                <a:ea typeface="Canva Sans Bold"/>
                <a:cs typeface="Canva Sans Bold"/>
                <a:sym typeface="Canva Sans Bold"/>
              </a:rPr>
              <a:t> </a:t>
            </a:r>
            <a:r>
              <a:rPr lang="en-US" sz="3200" b="1" i="1" dirty="0">
                <a:solidFill>
                  <a:srgbClr val="000000"/>
                </a:solidFill>
                <a:latin typeface="Canva Sans Bold Italics"/>
                <a:ea typeface="Canva Sans Bold Italics"/>
                <a:cs typeface="Canva Sans Bold Italics"/>
                <a:sym typeface="Canva Sans Bold Italics"/>
              </a:rPr>
              <a:t>Stacked LSTM (Long Short-Term Memory)</a:t>
            </a:r>
            <a:r>
              <a:rPr lang="en-US" sz="3033" b="1" dirty="0">
                <a:solidFill>
                  <a:srgbClr val="000000"/>
                </a:solidFill>
                <a:latin typeface="Canva Sans Bold"/>
                <a:ea typeface="Canva Sans Bold"/>
                <a:cs typeface="Canva Sans Bold"/>
                <a:sym typeface="Canva Sans Bold"/>
              </a:rPr>
              <a:t> Model:</a:t>
            </a:r>
          </a:p>
        </p:txBody>
      </p:sp>
      <p:sp>
        <p:nvSpPr>
          <p:cNvPr id="9" name="TextBox 9"/>
          <p:cNvSpPr txBox="1"/>
          <p:nvPr/>
        </p:nvSpPr>
        <p:spPr>
          <a:xfrm>
            <a:off x="1894881" y="1799062"/>
            <a:ext cx="14107119" cy="7117333"/>
          </a:xfrm>
          <a:prstGeom prst="rect">
            <a:avLst/>
          </a:prstGeom>
        </p:spPr>
        <p:txBody>
          <a:bodyPr wrap="square" lIns="0" tIns="0" rIns="0" bIns="0" rtlCol="0" anchor="t">
            <a:spAutoFit/>
          </a:bodyPr>
          <a:lstStyle/>
          <a:p>
            <a:pPr marL="562974" lvl="1" indent="-281487">
              <a:lnSpc>
                <a:spcPts val="3650"/>
              </a:lnSpc>
              <a:spcBef>
                <a:spcPct val="0"/>
              </a:spcBef>
              <a:buFont typeface="Arial"/>
              <a:buChar char="•"/>
            </a:pPr>
            <a:r>
              <a:rPr lang="en-US" sz="3200" b="1" dirty="0">
                <a:solidFill>
                  <a:srgbClr val="000000"/>
                </a:solidFill>
                <a:latin typeface="Canva Sans"/>
                <a:ea typeface="Canva Sans"/>
                <a:cs typeface="Canva Sans"/>
                <a:sym typeface="Canva Sans"/>
              </a:rPr>
              <a:t>Model Overfitting on Volatile Stocks: </a:t>
            </a:r>
            <a:r>
              <a:rPr lang="en-US" sz="3200" dirty="0">
                <a:solidFill>
                  <a:srgbClr val="000000"/>
                </a:solidFill>
                <a:latin typeface="Canva Sans"/>
                <a:ea typeface="Canva Sans"/>
                <a:cs typeface="Canva Sans"/>
                <a:sym typeface="Canva Sans"/>
              </a:rPr>
              <a:t>High fluctuations in stock prices led to the model fitting noise instead of true trends, requiring careful regularization.</a:t>
            </a:r>
          </a:p>
          <a:p>
            <a:pPr marL="281487" lvl="1">
              <a:lnSpc>
                <a:spcPts val="3650"/>
              </a:lnSpc>
              <a:spcBef>
                <a:spcPct val="0"/>
              </a:spcBef>
            </a:pPr>
            <a:endParaRPr lang="en-US" sz="3200" dirty="0">
              <a:solidFill>
                <a:srgbClr val="000000"/>
              </a:solidFill>
              <a:latin typeface="Canva Sans"/>
              <a:ea typeface="Canva Sans"/>
              <a:cs typeface="Canva Sans"/>
              <a:sym typeface="Canva Sans"/>
            </a:endParaRPr>
          </a:p>
          <a:p>
            <a:pPr marL="562974" lvl="1" indent="-281487">
              <a:lnSpc>
                <a:spcPts val="3650"/>
              </a:lnSpc>
              <a:spcBef>
                <a:spcPct val="0"/>
              </a:spcBef>
              <a:buFont typeface="Arial"/>
              <a:buChar char="•"/>
            </a:pPr>
            <a:r>
              <a:rPr lang="en-US" sz="3200" b="1" dirty="0">
                <a:solidFill>
                  <a:srgbClr val="000000"/>
                </a:solidFill>
                <a:latin typeface="Canva Sans"/>
                <a:ea typeface="Canva Sans"/>
                <a:cs typeface="Canva Sans"/>
                <a:sym typeface="Canva Sans"/>
              </a:rPr>
              <a:t>Data Preprocessing for Non-Trading Days: </a:t>
            </a:r>
            <a:r>
              <a:rPr lang="en-US" sz="3200" dirty="0">
                <a:solidFill>
                  <a:srgbClr val="000000"/>
                </a:solidFill>
                <a:latin typeface="Canva Sans"/>
                <a:ea typeface="Canva Sans"/>
                <a:cs typeface="Canva Sans"/>
                <a:sym typeface="Canva Sans"/>
              </a:rPr>
              <a:t>Handling gaps due to weekends and market holidays was essential to ensure continuous sequences for the LSTM.</a:t>
            </a:r>
            <a:br>
              <a:rPr lang="en-US" sz="3200" dirty="0">
                <a:solidFill>
                  <a:srgbClr val="000000"/>
                </a:solidFill>
                <a:latin typeface="Canva Sans"/>
                <a:ea typeface="Canva Sans"/>
                <a:cs typeface="Canva Sans"/>
                <a:sym typeface="Canva Sans"/>
              </a:rPr>
            </a:br>
            <a:endParaRPr lang="en-US" sz="3200" dirty="0">
              <a:solidFill>
                <a:srgbClr val="000000"/>
              </a:solidFill>
              <a:latin typeface="Canva Sans"/>
              <a:ea typeface="Canva Sans"/>
              <a:cs typeface="Canva Sans"/>
              <a:sym typeface="Canva Sans"/>
            </a:endParaRPr>
          </a:p>
          <a:p>
            <a:pPr marL="562974" lvl="1" indent="-281487">
              <a:lnSpc>
                <a:spcPts val="3650"/>
              </a:lnSpc>
              <a:spcBef>
                <a:spcPct val="0"/>
              </a:spcBef>
              <a:buFont typeface="Arial"/>
              <a:buChar char="•"/>
            </a:pPr>
            <a:r>
              <a:rPr lang="en-US" sz="3200" b="1" dirty="0">
                <a:solidFill>
                  <a:srgbClr val="000000"/>
                </a:solidFill>
                <a:latin typeface="Canva Sans"/>
                <a:ea typeface="Canva Sans"/>
                <a:cs typeface="Canva Sans"/>
                <a:sym typeface="Canva Sans"/>
              </a:rPr>
              <a:t>Capturing Sudden Market Events: </a:t>
            </a:r>
            <a:r>
              <a:rPr lang="en-US" sz="3200" dirty="0">
                <a:solidFill>
                  <a:srgbClr val="000000"/>
                </a:solidFill>
                <a:latin typeface="Canva Sans"/>
                <a:ea typeface="Canva Sans"/>
                <a:cs typeface="Canva Sans"/>
                <a:sym typeface="Canva Sans"/>
              </a:rPr>
              <a:t>Unpredictable external factors like earnings announcements or news events were not directly encoded in the data, affecting prediction accuracy.</a:t>
            </a:r>
            <a:br>
              <a:rPr lang="en-US" sz="3200" dirty="0">
                <a:solidFill>
                  <a:srgbClr val="000000"/>
                </a:solidFill>
                <a:latin typeface="Canva Sans"/>
                <a:ea typeface="Canva Sans"/>
                <a:cs typeface="Canva Sans"/>
                <a:sym typeface="Canva Sans"/>
              </a:rPr>
            </a:br>
            <a:endParaRPr lang="en-US" sz="3200" dirty="0">
              <a:solidFill>
                <a:srgbClr val="000000"/>
              </a:solidFill>
              <a:latin typeface="Canva Sans"/>
              <a:ea typeface="Canva Sans"/>
              <a:cs typeface="Canva Sans"/>
              <a:sym typeface="Canva Sans"/>
            </a:endParaRPr>
          </a:p>
          <a:p>
            <a:pPr marL="562974" lvl="1" indent="-281487">
              <a:lnSpc>
                <a:spcPts val="3650"/>
              </a:lnSpc>
              <a:spcBef>
                <a:spcPct val="0"/>
              </a:spcBef>
              <a:buFont typeface="Arial"/>
              <a:buChar char="•"/>
            </a:pPr>
            <a:r>
              <a:rPr lang="en-US" sz="3200" b="1" dirty="0">
                <a:solidFill>
                  <a:srgbClr val="000000"/>
                </a:solidFill>
                <a:latin typeface="Canva Sans"/>
                <a:ea typeface="Canva Sans"/>
                <a:cs typeface="Canva Sans"/>
                <a:sym typeface="Canva Sans"/>
              </a:rPr>
              <a:t>Balancing Between Model Complexity and Training Time: </a:t>
            </a:r>
            <a:r>
              <a:rPr lang="en-US" sz="3200" dirty="0">
                <a:solidFill>
                  <a:srgbClr val="000000"/>
                </a:solidFill>
                <a:latin typeface="Canva Sans"/>
                <a:ea typeface="Canva Sans"/>
                <a:cs typeface="Canva Sans"/>
                <a:sym typeface="Canva Sans"/>
              </a:rPr>
              <a:t>Deeper LSTM architectures improved learning but significantly increased training time, demanding trade-offs for efficiency.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08" y="3328"/>
            <a:ext cx="850437" cy="10283672"/>
          </a:xfrm>
          <a:custGeom>
            <a:avLst/>
            <a:gdLst/>
            <a:ahLst/>
            <a:cxnLst/>
            <a:rect l="l" t="t" r="r" b="b"/>
            <a:pathLst>
              <a:path w="850437" h="10283672">
                <a:moveTo>
                  <a:pt x="0" y="0"/>
                </a:moveTo>
                <a:lnTo>
                  <a:pt x="850436" y="0"/>
                </a:lnTo>
                <a:lnTo>
                  <a:pt x="850436" y="10283672"/>
                </a:lnTo>
                <a:lnTo>
                  <a:pt x="0" y="10283672"/>
                </a:lnTo>
                <a:lnTo>
                  <a:pt x="0" y="0"/>
                </a:lnTo>
                <a:close/>
              </a:path>
            </a:pathLst>
          </a:custGeom>
          <a:blipFill>
            <a:blip r:embed="rId2"/>
            <a:stretch>
              <a:fillRect l="-63364" r="-63364"/>
            </a:stretch>
          </a:blipFill>
        </p:spPr>
      </p:sp>
      <p:sp>
        <p:nvSpPr>
          <p:cNvPr id="3" name="Freeform 3"/>
          <p:cNvSpPr/>
          <p:nvPr/>
        </p:nvSpPr>
        <p:spPr>
          <a:xfrm>
            <a:off x="851344" y="0"/>
            <a:ext cx="314516" cy="8161020"/>
          </a:xfrm>
          <a:custGeom>
            <a:avLst/>
            <a:gdLst/>
            <a:ahLst/>
            <a:cxnLst/>
            <a:rect l="l" t="t" r="r" b="b"/>
            <a:pathLst>
              <a:path w="314516" h="8161020">
                <a:moveTo>
                  <a:pt x="0" y="0"/>
                </a:moveTo>
                <a:lnTo>
                  <a:pt x="314516" y="0"/>
                </a:lnTo>
                <a:lnTo>
                  <a:pt x="314516" y="8161020"/>
                </a:lnTo>
                <a:lnTo>
                  <a:pt x="0" y="8161020"/>
                </a:lnTo>
                <a:lnTo>
                  <a:pt x="0" y="0"/>
                </a:lnTo>
                <a:close/>
              </a:path>
            </a:pathLst>
          </a:custGeom>
          <a:blipFill>
            <a:blip r:embed="rId3"/>
            <a:stretch>
              <a:fillRect l="-57941" r="-57941"/>
            </a:stretch>
          </a:blipFill>
        </p:spPr>
      </p:sp>
      <p:sp>
        <p:nvSpPr>
          <p:cNvPr id="4" name="Freeform 4" descr="A close up of a sign  Description automatically generated"/>
          <p:cNvSpPr/>
          <p:nvPr/>
        </p:nvSpPr>
        <p:spPr>
          <a:xfrm>
            <a:off x="16472728" y="9258300"/>
            <a:ext cx="1303024" cy="971231"/>
          </a:xfrm>
          <a:custGeom>
            <a:avLst/>
            <a:gdLst/>
            <a:ahLst/>
            <a:cxnLst/>
            <a:rect l="l" t="t" r="r" b="b"/>
            <a:pathLst>
              <a:path w="1303024" h="971231">
                <a:moveTo>
                  <a:pt x="0" y="0"/>
                </a:moveTo>
                <a:lnTo>
                  <a:pt x="1303024" y="0"/>
                </a:lnTo>
                <a:lnTo>
                  <a:pt x="1303024" y="971231"/>
                </a:lnTo>
                <a:lnTo>
                  <a:pt x="0" y="971231"/>
                </a:lnTo>
                <a:lnTo>
                  <a:pt x="0" y="0"/>
                </a:lnTo>
                <a:close/>
              </a:path>
            </a:pathLst>
          </a:custGeom>
          <a:blipFill>
            <a:blip r:embed="rId4"/>
            <a:stretch>
              <a:fillRect t="-70" b="-70"/>
            </a:stretch>
          </a:blipFill>
        </p:spPr>
      </p:sp>
      <p:sp>
        <p:nvSpPr>
          <p:cNvPr id="5" name="Freeform 5" descr="A picture containing drawing  Description automatically generated"/>
          <p:cNvSpPr/>
          <p:nvPr/>
        </p:nvSpPr>
        <p:spPr>
          <a:xfrm>
            <a:off x="851345" y="9291162"/>
            <a:ext cx="3983352" cy="995838"/>
          </a:xfrm>
          <a:custGeom>
            <a:avLst/>
            <a:gdLst/>
            <a:ahLst/>
            <a:cxnLst/>
            <a:rect l="l" t="t" r="r" b="b"/>
            <a:pathLst>
              <a:path w="3983352" h="995838">
                <a:moveTo>
                  <a:pt x="0" y="0"/>
                </a:moveTo>
                <a:lnTo>
                  <a:pt x="3983352" y="0"/>
                </a:lnTo>
                <a:lnTo>
                  <a:pt x="3983352" y="995838"/>
                </a:lnTo>
                <a:lnTo>
                  <a:pt x="0" y="995838"/>
                </a:lnTo>
                <a:lnTo>
                  <a:pt x="0" y="0"/>
                </a:lnTo>
                <a:close/>
              </a:path>
            </a:pathLst>
          </a:custGeom>
          <a:blipFill>
            <a:blip r:embed="rId5"/>
            <a:stretch>
              <a:fillRect/>
            </a:stretch>
          </a:blipFill>
        </p:spPr>
      </p:sp>
      <p:sp>
        <p:nvSpPr>
          <p:cNvPr id="6" name="TextBox 6"/>
          <p:cNvSpPr txBox="1"/>
          <p:nvPr/>
        </p:nvSpPr>
        <p:spPr>
          <a:xfrm>
            <a:off x="6477965" y="357193"/>
            <a:ext cx="5332070" cy="741998"/>
          </a:xfrm>
          <a:prstGeom prst="rect">
            <a:avLst/>
          </a:prstGeom>
        </p:spPr>
        <p:txBody>
          <a:bodyPr wrap="square" lIns="0" tIns="0" rIns="0" bIns="0" rtlCol="0" anchor="t">
            <a:spAutoFit/>
          </a:bodyPr>
          <a:lstStyle/>
          <a:p>
            <a:pPr algn="ctr">
              <a:lnSpc>
                <a:spcPts val="6159"/>
              </a:lnSpc>
              <a:spcBef>
                <a:spcPct val="0"/>
              </a:spcBef>
            </a:pPr>
            <a:r>
              <a:rPr lang="en-US" sz="4399" b="1" i="1" u="sng" dirty="0">
                <a:solidFill>
                  <a:srgbClr val="000000"/>
                </a:solidFill>
                <a:latin typeface="Canva Sans Bold Italics"/>
                <a:ea typeface="Canva Sans Bold Italics"/>
                <a:cs typeface="Canva Sans Bold Italics"/>
                <a:sym typeface="Canva Sans Bold Italics"/>
              </a:rPr>
              <a:t>Future Work</a:t>
            </a:r>
          </a:p>
        </p:txBody>
      </p:sp>
      <p:sp>
        <p:nvSpPr>
          <p:cNvPr id="7" name="TextBox 7"/>
          <p:cNvSpPr txBox="1"/>
          <p:nvPr/>
        </p:nvSpPr>
        <p:spPr>
          <a:xfrm>
            <a:off x="1165860" y="1099191"/>
            <a:ext cx="16471570" cy="7848302"/>
          </a:xfrm>
          <a:prstGeom prst="rect">
            <a:avLst/>
          </a:prstGeom>
        </p:spPr>
        <p:txBody>
          <a:bodyPr lIns="0" tIns="0" rIns="0" bIns="0" rtlCol="0" anchor="t">
            <a:spAutoFit/>
          </a:bodyPr>
          <a:lstStyle/>
          <a:p>
            <a:pPr marL="457200" indent="-457200">
              <a:buFont typeface="Arial" panose="020B0604020202020204" pitchFamily="34" charset="0"/>
              <a:buChar char="•"/>
            </a:pPr>
            <a:r>
              <a:rPr lang="en-US" sz="3000" b="1" dirty="0">
                <a:latin typeface="Canva Sans" panose="020B0604020202020204" charset="0"/>
              </a:rPr>
              <a:t>Sentiment-Aware Prediction:</a:t>
            </a:r>
            <a:br>
              <a:rPr lang="en-US" sz="3000" dirty="0">
                <a:latin typeface="Canva Sans" panose="020B0604020202020204" charset="0"/>
              </a:rPr>
            </a:br>
            <a:r>
              <a:rPr lang="en-US" sz="3000" dirty="0">
                <a:latin typeface="Canva Sans" panose="020B0604020202020204" charset="0"/>
              </a:rPr>
              <a:t>Integration of sentiment analysis from financial news articles and social media to enhance model decision-making. By correlating public sentiment with stock price movements, the model can capture broader market behavior beyond numerical data.</a:t>
            </a:r>
          </a:p>
          <a:p>
            <a:pPr marL="457200" indent="-457200">
              <a:buFont typeface="Arial" panose="020B0604020202020204" pitchFamily="34" charset="0"/>
              <a:buChar char="•"/>
            </a:pPr>
            <a:r>
              <a:rPr lang="en-US" sz="3000" b="1" dirty="0">
                <a:latin typeface="Canva Sans" panose="020B0604020202020204" charset="0"/>
              </a:rPr>
              <a:t>Bidirectional LSTM Enhancement:</a:t>
            </a:r>
            <a:br>
              <a:rPr lang="en-US" sz="3000" dirty="0">
                <a:latin typeface="Canva Sans" panose="020B0604020202020204" charset="0"/>
              </a:rPr>
            </a:br>
            <a:r>
              <a:rPr lang="en-US" sz="3000" dirty="0">
                <a:latin typeface="Canva Sans" panose="020B0604020202020204" charset="0"/>
              </a:rPr>
              <a:t>Incorporation of Bidirectional LSTM (</a:t>
            </a:r>
            <a:r>
              <a:rPr lang="en-US" sz="3000" dirty="0" err="1">
                <a:latin typeface="Canva Sans" panose="020B0604020202020204" charset="0"/>
              </a:rPr>
              <a:t>BiLSTM</a:t>
            </a:r>
            <a:r>
              <a:rPr lang="en-US" sz="3000" dirty="0">
                <a:latin typeface="Canva Sans" panose="020B0604020202020204" charset="0"/>
              </a:rPr>
              <a:t>) layers to improve sequence learning. This would allow the model to consider both past and future context in a time series window, enhancing prediction accuracy.</a:t>
            </a:r>
          </a:p>
          <a:p>
            <a:pPr marL="457200" indent="-457200">
              <a:buFont typeface="Arial" panose="020B0604020202020204" pitchFamily="34" charset="0"/>
              <a:buChar char="•"/>
            </a:pPr>
            <a:r>
              <a:rPr lang="en-US" sz="3000" b="1" dirty="0">
                <a:latin typeface="Canva Sans" panose="020B0604020202020204" charset="0"/>
              </a:rPr>
              <a:t>Technical Indicator Fusion:</a:t>
            </a:r>
            <a:br>
              <a:rPr lang="en-US" sz="3000" dirty="0">
                <a:latin typeface="Canva Sans" panose="020B0604020202020204" charset="0"/>
              </a:rPr>
            </a:br>
            <a:r>
              <a:rPr lang="en-US" sz="3000" dirty="0">
                <a:latin typeface="Canva Sans" panose="020B0604020202020204" charset="0"/>
              </a:rPr>
              <a:t>Augmenting input features with popular technical indicators such as RSI (Relative Strength Index) and MACD (Moving Average Convergence Divergence). These domain-specific signals can guide the model toward better trend identification and entry/exit predictions.</a:t>
            </a:r>
          </a:p>
          <a:p>
            <a:pPr marL="457200" indent="-457200">
              <a:buFont typeface="Arial" panose="020B0604020202020204" pitchFamily="34" charset="0"/>
              <a:buChar char="•"/>
            </a:pPr>
            <a:r>
              <a:rPr lang="en-US" sz="3000" b="1" dirty="0">
                <a:latin typeface="Canva Sans" panose="020B0604020202020204" charset="0"/>
              </a:rPr>
              <a:t>Real-Time Forecasting Dashboard:</a:t>
            </a:r>
            <a:br>
              <a:rPr lang="en-US" sz="3000" dirty="0">
                <a:latin typeface="Canva Sans" panose="020B0604020202020204" charset="0"/>
              </a:rPr>
            </a:br>
            <a:r>
              <a:rPr lang="en-US" sz="3000" dirty="0">
                <a:latin typeface="Canva Sans" panose="020B0604020202020204" charset="0"/>
              </a:rPr>
              <a:t>Development of an interactive, real-time stock prediction interface. The dashboard would display current predictions, trend graphs, and key metrics, providing users with actionable insights and model interpretability on-the-fly.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08" y="3328"/>
            <a:ext cx="850437" cy="10283672"/>
          </a:xfrm>
          <a:custGeom>
            <a:avLst/>
            <a:gdLst/>
            <a:ahLst/>
            <a:cxnLst/>
            <a:rect l="l" t="t" r="r" b="b"/>
            <a:pathLst>
              <a:path w="850437" h="10283672">
                <a:moveTo>
                  <a:pt x="0" y="0"/>
                </a:moveTo>
                <a:lnTo>
                  <a:pt x="850436" y="0"/>
                </a:lnTo>
                <a:lnTo>
                  <a:pt x="850436" y="10283672"/>
                </a:lnTo>
                <a:lnTo>
                  <a:pt x="0" y="10283672"/>
                </a:lnTo>
                <a:lnTo>
                  <a:pt x="0" y="0"/>
                </a:lnTo>
                <a:close/>
              </a:path>
            </a:pathLst>
          </a:custGeom>
          <a:blipFill>
            <a:blip r:embed="rId2"/>
            <a:stretch>
              <a:fillRect l="-63364" r="-63364"/>
            </a:stretch>
          </a:blipFill>
        </p:spPr>
      </p:sp>
      <p:sp>
        <p:nvSpPr>
          <p:cNvPr id="3" name="Freeform 3"/>
          <p:cNvSpPr/>
          <p:nvPr/>
        </p:nvSpPr>
        <p:spPr>
          <a:xfrm>
            <a:off x="851344" y="0"/>
            <a:ext cx="314516" cy="8161020"/>
          </a:xfrm>
          <a:custGeom>
            <a:avLst/>
            <a:gdLst/>
            <a:ahLst/>
            <a:cxnLst/>
            <a:rect l="l" t="t" r="r" b="b"/>
            <a:pathLst>
              <a:path w="314516" h="8161020">
                <a:moveTo>
                  <a:pt x="0" y="0"/>
                </a:moveTo>
                <a:lnTo>
                  <a:pt x="314516" y="0"/>
                </a:lnTo>
                <a:lnTo>
                  <a:pt x="314516" y="8161020"/>
                </a:lnTo>
                <a:lnTo>
                  <a:pt x="0" y="8161020"/>
                </a:lnTo>
                <a:lnTo>
                  <a:pt x="0" y="0"/>
                </a:lnTo>
                <a:close/>
              </a:path>
            </a:pathLst>
          </a:custGeom>
          <a:blipFill>
            <a:blip r:embed="rId3"/>
            <a:stretch>
              <a:fillRect l="-57941" r="-57941"/>
            </a:stretch>
          </a:blipFill>
        </p:spPr>
      </p:sp>
      <p:sp>
        <p:nvSpPr>
          <p:cNvPr id="4" name="Freeform 4" descr="A close up of a sign  Description automatically generated"/>
          <p:cNvSpPr/>
          <p:nvPr/>
        </p:nvSpPr>
        <p:spPr>
          <a:xfrm>
            <a:off x="16472728" y="9176862"/>
            <a:ext cx="1303024" cy="971230"/>
          </a:xfrm>
          <a:custGeom>
            <a:avLst/>
            <a:gdLst/>
            <a:ahLst/>
            <a:cxnLst/>
            <a:rect l="l" t="t" r="r" b="b"/>
            <a:pathLst>
              <a:path w="1303024" h="971230">
                <a:moveTo>
                  <a:pt x="0" y="0"/>
                </a:moveTo>
                <a:lnTo>
                  <a:pt x="1303024" y="0"/>
                </a:lnTo>
                <a:lnTo>
                  <a:pt x="1303024" y="971230"/>
                </a:lnTo>
                <a:lnTo>
                  <a:pt x="0" y="971230"/>
                </a:lnTo>
                <a:lnTo>
                  <a:pt x="0" y="0"/>
                </a:lnTo>
                <a:close/>
              </a:path>
            </a:pathLst>
          </a:custGeom>
          <a:blipFill>
            <a:blip r:embed="rId4"/>
            <a:stretch>
              <a:fillRect t="-70" b="-70"/>
            </a:stretch>
          </a:blipFill>
        </p:spPr>
      </p:sp>
      <p:sp>
        <p:nvSpPr>
          <p:cNvPr id="5" name="Freeform 5" descr="A picture containing drawing  Description automatically generated"/>
          <p:cNvSpPr/>
          <p:nvPr/>
        </p:nvSpPr>
        <p:spPr>
          <a:xfrm>
            <a:off x="851535" y="9176862"/>
            <a:ext cx="3983352" cy="995838"/>
          </a:xfrm>
          <a:custGeom>
            <a:avLst/>
            <a:gdLst/>
            <a:ahLst/>
            <a:cxnLst/>
            <a:rect l="l" t="t" r="r" b="b"/>
            <a:pathLst>
              <a:path w="3983352" h="995838">
                <a:moveTo>
                  <a:pt x="0" y="0"/>
                </a:moveTo>
                <a:lnTo>
                  <a:pt x="3983352" y="0"/>
                </a:lnTo>
                <a:lnTo>
                  <a:pt x="3983352" y="995838"/>
                </a:lnTo>
                <a:lnTo>
                  <a:pt x="0" y="995838"/>
                </a:lnTo>
                <a:lnTo>
                  <a:pt x="0" y="0"/>
                </a:lnTo>
                <a:close/>
              </a:path>
            </a:pathLst>
          </a:custGeom>
          <a:blipFill>
            <a:blip r:embed="rId5"/>
            <a:stretch>
              <a:fillRect/>
            </a:stretch>
          </a:blipFill>
        </p:spPr>
      </p:sp>
      <p:sp>
        <p:nvSpPr>
          <p:cNvPr id="6" name="TextBox 6"/>
          <p:cNvSpPr txBox="1"/>
          <p:nvPr/>
        </p:nvSpPr>
        <p:spPr>
          <a:xfrm>
            <a:off x="7610594" y="461392"/>
            <a:ext cx="3066812" cy="755016"/>
          </a:xfrm>
          <a:prstGeom prst="rect">
            <a:avLst/>
          </a:prstGeom>
        </p:spPr>
        <p:txBody>
          <a:bodyPr lIns="0" tIns="0" rIns="0" bIns="0" rtlCol="0" anchor="t">
            <a:spAutoFit/>
          </a:bodyPr>
          <a:lstStyle/>
          <a:p>
            <a:pPr algn="ctr">
              <a:lnSpc>
                <a:spcPts val="6159"/>
              </a:lnSpc>
              <a:spcBef>
                <a:spcPct val="0"/>
              </a:spcBef>
            </a:pPr>
            <a:r>
              <a:rPr lang="en-US" sz="4399" b="1" i="1" u="sng" dirty="0">
                <a:solidFill>
                  <a:srgbClr val="000000"/>
                </a:solidFill>
                <a:latin typeface="Canva Sans Bold Italics"/>
                <a:ea typeface="Canva Sans Bold Italics"/>
                <a:cs typeface="Canva Sans Bold Italics"/>
                <a:sym typeface="Canva Sans Bold Italics"/>
              </a:rPr>
              <a:t>Conclusion</a:t>
            </a:r>
          </a:p>
        </p:txBody>
      </p:sp>
      <p:sp>
        <p:nvSpPr>
          <p:cNvPr id="7" name="TextBox 7"/>
          <p:cNvSpPr txBox="1"/>
          <p:nvPr/>
        </p:nvSpPr>
        <p:spPr>
          <a:xfrm>
            <a:off x="1572295" y="1697991"/>
            <a:ext cx="15884414" cy="7386638"/>
          </a:xfrm>
          <a:prstGeom prst="rect">
            <a:avLst/>
          </a:prstGeom>
        </p:spPr>
        <p:txBody>
          <a:bodyPr lIns="0" tIns="0" rIns="0" bIns="0" rtlCol="0" anchor="t">
            <a:spAutoFit/>
          </a:bodyPr>
          <a:lstStyle/>
          <a:p>
            <a:pPr>
              <a:buNone/>
            </a:pPr>
            <a:r>
              <a:rPr lang="en-US" sz="3200" dirty="0">
                <a:latin typeface="Canva Sans" panose="020B0604020202020204" charset="0"/>
              </a:rPr>
              <a:t>In this work, we explored stock price forecasting through the lens of deep learning, using Long Short-Term Memory (LSTM) networks tailored for time-series data. By leveraging sequences of historical stock prices, the LSTM model effectively captured temporal dependencies, demonstrating strong predictive capabilities on real-world financial datasets.</a:t>
            </a:r>
          </a:p>
          <a:p>
            <a:pPr>
              <a:buNone/>
            </a:pPr>
            <a:r>
              <a:rPr lang="en-US" sz="3200" dirty="0">
                <a:latin typeface="Canva Sans" panose="020B0604020202020204" charset="0"/>
              </a:rPr>
              <a:t>The project highlighted the importance of data preprocessing, model tuning, and sequential validation strategies in time-series forecasting. Through structured evaluation and visualization, we validated the LSTM’s potential as a core predictive model in financial analytics.</a:t>
            </a:r>
          </a:p>
          <a:p>
            <a:r>
              <a:rPr lang="en-US" sz="3200" dirty="0">
                <a:latin typeface="Canva Sans" panose="020B0604020202020204" charset="0"/>
              </a:rPr>
              <a:t>Looking ahead, this work establishes a strong foundation for advanced forecasting systems. Future directions include the integration of sentiment analysis, technical indicators, and Bidirectional LSTMs, as well as the development of real-time prediction dashboards. These enhancements promise more accurate, interpretable, and actionable insights in high-stakes financial environments.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610</TotalTime>
  <Words>1282</Words>
  <Application>Microsoft Office PowerPoint</Application>
  <PresentationFormat>Custom</PresentationFormat>
  <Paragraphs>73</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Canva Sans</vt:lpstr>
      <vt:lpstr>Arial</vt:lpstr>
      <vt:lpstr>Calibri</vt:lpstr>
      <vt:lpstr>Canva Sans Bold Italics</vt:lpstr>
      <vt:lpstr>Canva Sans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IA 2.pptx</dc:title>
  <dc:creator>Parth Sharma</dc:creator>
  <cp:lastModifiedBy>Parth Sharma</cp:lastModifiedBy>
  <cp:revision>4</cp:revision>
  <dcterms:created xsi:type="dcterms:W3CDTF">2006-08-16T00:00:00Z</dcterms:created>
  <dcterms:modified xsi:type="dcterms:W3CDTF">2025-04-18T12:54:30Z</dcterms:modified>
  <dc:identifier>DAGkndqiJ78</dc:identifier>
</cp:coreProperties>
</file>